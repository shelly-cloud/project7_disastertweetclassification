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68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09D6162-7C8B-4704-B509-04DA3D39F255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7ADF200-4AB3-4BF4-825F-EBBC6DAD5A6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/>
            <a:t>•  Relief agencies and newsrooms want automated Twitter monitoring for disasters.</a:t>
          </a:r>
          <a:endParaRPr lang="en-US"/>
        </a:p>
      </dgm:t>
    </dgm:pt>
    <dgm:pt modelId="{17A8DA80-DD68-4C8C-8EC3-DC60DA5AC55F}" type="parTrans" cxnId="{ECC293C1-7818-4682-B560-FBFC9522931F}">
      <dgm:prSet/>
      <dgm:spPr/>
      <dgm:t>
        <a:bodyPr/>
        <a:lstStyle/>
        <a:p>
          <a:endParaRPr lang="en-US"/>
        </a:p>
      </dgm:t>
    </dgm:pt>
    <dgm:pt modelId="{23494B8D-DBC9-4FE7-A6D8-66186EB4374C}" type="sibTrans" cxnId="{ECC293C1-7818-4682-B560-FBFC9522931F}">
      <dgm:prSet/>
      <dgm:spPr/>
      <dgm:t>
        <a:bodyPr/>
        <a:lstStyle/>
        <a:p>
          <a:endParaRPr lang="en-US"/>
        </a:p>
      </dgm:t>
    </dgm:pt>
    <dgm:pt modelId="{F735A2D5-61AC-48F0-83F1-07507ADF8EB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/>
            <a:t>•  Keywords alone fail: "this song is fire" is not a wildfire.</a:t>
          </a:r>
          <a:endParaRPr lang="en-US"/>
        </a:p>
      </dgm:t>
    </dgm:pt>
    <dgm:pt modelId="{3B23CE46-BCDD-4305-8B2F-D979E8EA1AF3}" type="parTrans" cxnId="{065A4D5E-0CAC-425D-9AF8-E4EC77582A5B}">
      <dgm:prSet/>
      <dgm:spPr/>
      <dgm:t>
        <a:bodyPr/>
        <a:lstStyle/>
        <a:p>
          <a:endParaRPr lang="en-US"/>
        </a:p>
      </dgm:t>
    </dgm:pt>
    <dgm:pt modelId="{0856CC63-8E3F-4BD4-9D3A-FE1FFBEB3FE6}" type="sibTrans" cxnId="{065A4D5E-0CAC-425D-9AF8-E4EC77582A5B}">
      <dgm:prSet/>
      <dgm:spPr/>
      <dgm:t>
        <a:bodyPr/>
        <a:lstStyle/>
        <a:p>
          <a:endParaRPr lang="en-US"/>
        </a:p>
      </dgm:t>
    </dgm:pt>
    <dgm:pt modelId="{C9462F2C-8347-4920-B463-430B7E51605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/>
            <a:t>•  Goal: high precision (few false alarms) and good recall, robust to slang and noise, fast enough to scale.</a:t>
          </a:r>
          <a:endParaRPr lang="en-US"/>
        </a:p>
      </dgm:t>
    </dgm:pt>
    <dgm:pt modelId="{0C1B72F8-3F36-4D2A-8A29-5BB95B8F802B}" type="parTrans" cxnId="{680457EE-9A73-441B-AD87-B429DB06A27D}">
      <dgm:prSet/>
      <dgm:spPr/>
      <dgm:t>
        <a:bodyPr/>
        <a:lstStyle/>
        <a:p>
          <a:endParaRPr lang="en-US"/>
        </a:p>
      </dgm:t>
    </dgm:pt>
    <dgm:pt modelId="{7CF01E6E-CC3D-48A6-8750-A9C29094E518}" type="sibTrans" cxnId="{680457EE-9A73-441B-AD87-B429DB06A27D}">
      <dgm:prSet/>
      <dgm:spPr/>
      <dgm:t>
        <a:bodyPr/>
        <a:lstStyle/>
        <a:p>
          <a:endParaRPr lang="en-US"/>
        </a:p>
      </dgm:t>
    </dgm:pt>
    <dgm:pt modelId="{1A736BED-78F4-4621-A556-ECB4C30D3DD7}" type="pres">
      <dgm:prSet presAssocID="{C09D6162-7C8B-4704-B509-04DA3D39F255}" presName="root" presStyleCnt="0">
        <dgm:presLayoutVars>
          <dgm:dir/>
          <dgm:resizeHandles val="exact"/>
        </dgm:presLayoutVars>
      </dgm:prSet>
      <dgm:spPr/>
    </dgm:pt>
    <dgm:pt modelId="{6BC92D76-920A-491B-A51B-1854C0390B9A}" type="pres">
      <dgm:prSet presAssocID="{F7ADF200-4AB3-4BF4-825F-EBBC6DAD5A66}" presName="compNode" presStyleCnt="0"/>
      <dgm:spPr/>
    </dgm:pt>
    <dgm:pt modelId="{6952A3BF-49E7-4680-A6FB-65E99465DE4E}" type="pres">
      <dgm:prSet presAssocID="{F7ADF200-4AB3-4BF4-825F-EBBC6DAD5A66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curity Camera Sign"/>
        </a:ext>
      </dgm:extLst>
    </dgm:pt>
    <dgm:pt modelId="{871327E7-7D3C-4F11-AC26-F5A408F41DC5}" type="pres">
      <dgm:prSet presAssocID="{F7ADF200-4AB3-4BF4-825F-EBBC6DAD5A66}" presName="spaceRect" presStyleCnt="0"/>
      <dgm:spPr/>
    </dgm:pt>
    <dgm:pt modelId="{685F0F1E-DA1A-4A22-9CC2-B60E674C51EE}" type="pres">
      <dgm:prSet presAssocID="{F7ADF200-4AB3-4BF4-825F-EBBC6DAD5A66}" presName="textRect" presStyleLbl="revTx" presStyleIdx="0" presStyleCnt="3">
        <dgm:presLayoutVars>
          <dgm:chMax val="1"/>
          <dgm:chPref val="1"/>
        </dgm:presLayoutVars>
      </dgm:prSet>
      <dgm:spPr/>
    </dgm:pt>
    <dgm:pt modelId="{5E6B437E-6265-463A-8D5C-A7490B6D406F}" type="pres">
      <dgm:prSet presAssocID="{23494B8D-DBC9-4FE7-A6D8-66186EB4374C}" presName="sibTrans" presStyleCnt="0"/>
      <dgm:spPr/>
    </dgm:pt>
    <dgm:pt modelId="{956CE593-F27C-4146-B5E5-E850A2FB2501}" type="pres">
      <dgm:prSet presAssocID="{F735A2D5-61AC-48F0-83F1-07507ADF8EB0}" presName="compNode" presStyleCnt="0"/>
      <dgm:spPr/>
    </dgm:pt>
    <dgm:pt modelId="{AE0C1F71-0381-434C-9BCB-BEDDF817E0A9}" type="pres">
      <dgm:prSet presAssocID="{F735A2D5-61AC-48F0-83F1-07507ADF8EB0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ammable"/>
        </a:ext>
      </dgm:extLst>
    </dgm:pt>
    <dgm:pt modelId="{FB21D210-6D72-4746-968A-36D4362EBBAE}" type="pres">
      <dgm:prSet presAssocID="{F735A2D5-61AC-48F0-83F1-07507ADF8EB0}" presName="spaceRect" presStyleCnt="0"/>
      <dgm:spPr/>
    </dgm:pt>
    <dgm:pt modelId="{DFC62E04-B157-46BE-9997-7F31B759865F}" type="pres">
      <dgm:prSet presAssocID="{F735A2D5-61AC-48F0-83F1-07507ADF8EB0}" presName="textRect" presStyleLbl="revTx" presStyleIdx="1" presStyleCnt="3">
        <dgm:presLayoutVars>
          <dgm:chMax val="1"/>
          <dgm:chPref val="1"/>
        </dgm:presLayoutVars>
      </dgm:prSet>
      <dgm:spPr/>
    </dgm:pt>
    <dgm:pt modelId="{6847ACD3-E619-4375-A472-A4F606883997}" type="pres">
      <dgm:prSet presAssocID="{0856CC63-8E3F-4BD4-9D3A-FE1FFBEB3FE6}" presName="sibTrans" presStyleCnt="0"/>
      <dgm:spPr/>
    </dgm:pt>
    <dgm:pt modelId="{76AB6A7B-B0F1-445C-A7B7-B5382785B2CE}" type="pres">
      <dgm:prSet presAssocID="{C9462F2C-8347-4920-B463-430B7E516056}" presName="compNode" presStyleCnt="0"/>
      <dgm:spPr/>
    </dgm:pt>
    <dgm:pt modelId="{28F20C92-F819-447B-B64A-CDF06BDD99F3}" type="pres">
      <dgm:prSet presAssocID="{C9462F2C-8347-4920-B463-430B7E516056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inger"/>
        </a:ext>
      </dgm:extLst>
    </dgm:pt>
    <dgm:pt modelId="{8C35E845-06FC-42C5-B2A5-89617F9C5853}" type="pres">
      <dgm:prSet presAssocID="{C9462F2C-8347-4920-B463-430B7E516056}" presName="spaceRect" presStyleCnt="0"/>
      <dgm:spPr/>
    </dgm:pt>
    <dgm:pt modelId="{3D4C3120-AB95-474F-810B-8FADD6F2C668}" type="pres">
      <dgm:prSet presAssocID="{C9462F2C-8347-4920-B463-430B7E516056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20EDCF07-5B34-46A1-8D58-5BE523A583CF}" type="presOf" srcId="{C09D6162-7C8B-4704-B509-04DA3D39F255}" destId="{1A736BED-78F4-4621-A556-ECB4C30D3DD7}" srcOrd="0" destOrd="0" presId="urn:microsoft.com/office/officeart/2018/2/layout/IconLabelList"/>
    <dgm:cxn modelId="{17EB6F31-4CFF-4F4B-B8A0-55BE704B0E18}" type="presOf" srcId="{F7ADF200-4AB3-4BF4-825F-EBBC6DAD5A66}" destId="{685F0F1E-DA1A-4A22-9CC2-B60E674C51EE}" srcOrd="0" destOrd="0" presId="urn:microsoft.com/office/officeart/2018/2/layout/IconLabelList"/>
    <dgm:cxn modelId="{065A4D5E-0CAC-425D-9AF8-E4EC77582A5B}" srcId="{C09D6162-7C8B-4704-B509-04DA3D39F255}" destId="{F735A2D5-61AC-48F0-83F1-07507ADF8EB0}" srcOrd="1" destOrd="0" parTransId="{3B23CE46-BCDD-4305-8B2F-D979E8EA1AF3}" sibTransId="{0856CC63-8E3F-4BD4-9D3A-FE1FFBEB3FE6}"/>
    <dgm:cxn modelId="{A132914D-D960-4CE1-B3AE-B16ADE9804C0}" type="presOf" srcId="{F735A2D5-61AC-48F0-83F1-07507ADF8EB0}" destId="{DFC62E04-B157-46BE-9997-7F31B759865F}" srcOrd="0" destOrd="0" presId="urn:microsoft.com/office/officeart/2018/2/layout/IconLabelList"/>
    <dgm:cxn modelId="{7B6E9490-E43F-426B-ADC3-9FD9D5D53E68}" type="presOf" srcId="{C9462F2C-8347-4920-B463-430B7E516056}" destId="{3D4C3120-AB95-474F-810B-8FADD6F2C668}" srcOrd="0" destOrd="0" presId="urn:microsoft.com/office/officeart/2018/2/layout/IconLabelList"/>
    <dgm:cxn modelId="{ECC293C1-7818-4682-B560-FBFC9522931F}" srcId="{C09D6162-7C8B-4704-B509-04DA3D39F255}" destId="{F7ADF200-4AB3-4BF4-825F-EBBC6DAD5A66}" srcOrd="0" destOrd="0" parTransId="{17A8DA80-DD68-4C8C-8EC3-DC60DA5AC55F}" sibTransId="{23494B8D-DBC9-4FE7-A6D8-66186EB4374C}"/>
    <dgm:cxn modelId="{680457EE-9A73-441B-AD87-B429DB06A27D}" srcId="{C09D6162-7C8B-4704-B509-04DA3D39F255}" destId="{C9462F2C-8347-4920-B463-430B7E516056}" srcOrd="2" destOrd="0" parTransId="{0C1B72F8-3F36-4D2A-8A29-5BB95B8F802B}" sibTransId="{7CF01E6E-CC3D-48A6-8750-A9C29094E518}"/>
    <dgm:cxn modelId="{CB8D6E5B-5EEE-4221-8B78-26DE5971B35C}" type="presParOf" srcId="{1A736BED-78F4-4621-A556-ECB4C30D3DD7}" destId="{6BC92D76-920A-491B-A51B-1854C0390B9A}" srcOrd="0" destOrd="0" presId="urn:microsoft.com/office/officeart/2018/2/layout/IconLabelList"/>
    <dgm:cxn modelId="{3465AA63-186E-4D39-A303-E5B498488A68}" type="presParOf" srcId="{6BC92D76-920A-491B-A51B-1854C0390B9A}" destId="{6952A3BF-49E7-4680-A6FB-65E99465DE4E}" srcOrd="0" destOrd="0" presId="urn:microsoft.com/office/officeart/2018/2/layout/IconLabelList"/>
    <dgm:cxn modelId="{3D1C88E8-8A4C-4D53-AD39-C7FF929A82DF}" type="presParOf" srcId="{6BC92D76-920A-491B-A51B-1854C0390B9A}" destId="{871327E7-7D3C-4F11-AC26-F5A408F41DC5}" srcOrd="1" destOrd="0" presId="urn:microsoft.com/office/officeart/2018/2/layout/IconLabelList"/>
    <dgm:cxn modelId="{205742C4-D374-4396-8E61-B8537D120942}" type="presParOf" srcId="{6BC92D76-920A-491B-A51B-1854C0390B9A}" destId="{685F0F1E-DA1A-4A22-9CC2-B60E674C51EE}" srcOrd="2" destOrd="0" presId="urn:microsoft.com/office/officeart/2018/2/layout/IconLabelList"/>
    <dgm:cxn modelId="{42DF78DA-46B4-462F-9CAF-0310BF781BCF}" type="presParOf" srcId="{1A736BED-78F4-4621-A556-ECB4C30D3DD7}" destId="{5E6B437E-6265-463A-8D5C-A7490B6D406F}" srcOrd="1" destOrd="0" presId="urn:microsoft.com/office/officeart/2018/2/layout/IconLabelList"/>
    <dgm:cxn modelId="{C2DD97FB-1E16-485A-A394-5A659849A66D}" type="presParOf" srcId="{1A736BED-78F4-4621-A556-ECB4C30D3DD7}" destId="{956CE593-F27C-4146-B5E5-E850A2FB2501}" srcOrd="2" destOrd="0" presId="urn:microsoft.com/office/officeart/2018/2/layout/IconLabelList"/>
    <dgm:cxn modelId="{7822F75F-584A-4B46-985E-FB84A8736517}" type="presParOf" srcId="{956CE593-F27C-4146-B5E5-E850A2FB2501}" destId="{AE0C1F71-0381-434C-9BCB-BEDDF817E0A9}" srcOrd="0" destOrd="0" presId="urn:microsoft.com/office/officeart/2018/2/layout/IconLabelList"/>
    <dgm:cxn modelId="{50A70793-1096-4BC4-8C68-794FC74B2617}" type="presParOf" srcId="{956CE593-F27C-4146-B5E5-E850A2FB2501}" destId="{FB21D210-6D72-4746-968A-36D4362EBBAE}" srcOrd="1" destOrd="0" presId="urn:microsoft.com/office/officeart/2018/2/layout/IconLabelList"/>
    <dgm:cxn modelId="{94F0C094-86EB-498E-99B5-BDFEBB7BA295}" type="presParOf" srcId="{956CE593-F27C-4146-B5E5-E850A2FB2501}" destId="{DFC62E04-B157-46BE-9997-7F31B759865F}" srcOrd="2" destOrd="0" presId="urn:microsoft.com/office/officeart/2018/2/layout/IconLabelList"/>
    <dgm:cxn modelId="{AB3912A7-ADE2-4E7F-98A6-782DC03E2277}" type="presParOf" srcId="{1A736BED-78F4-4621-A556-ECB4C30D3DD7}" destId="{6847ACD3-E619-4375-A472-A4F606883997}" srcOrd="3" destOrd="0" presId="urn:microsoft.com/office/officeart/2018/2/layout/IconLabelList"/>
    <dgm:cxn modelId="{9A682A5C-B465-4E0C-8F03-0D39B6442068}" type="presParOf" srcId="{1A736BED-78F4-4621-A556-ECB4C30D3DD7}" destId="{76AB6A7B-B0F1-445C-A7B7-B5382785B2CE}" srcOrd="4" destOrd="0" presId="urn:microsoft.com/office/officeart/2018/2/layout/IconLabelList"/>
    <dgm:cxn modelId="{476FDDFA-A82B-4065-8198-18E5203DBB0C}" type="presParOf" srcId="{76AB6A7B-B0F1-445C-A7B7-B5382785B2CE}" destId="{28F20C92-F819-447B-B64A-CDF06BDD99F3}" srcOrd="0" destOrd="0" presId="urn:microsoft.com/office/officeart/2018/2/layout/IconLabelList"/>
    <dgm:cxn modelId="{6359F2FE-FCF3-4C68-BC05-622690FBFDA3}" type="presParOf" srcId="{76AB6A7B-B0F1-445C-A7B7-B5382785B2CE}" destId="{8C35E845-06FC-42C5-B2A5-89617F9C5853}" srcOrd="1" destOrd="0" presId="urn:microsoft.com/office/officeart/2018/2/layout/IconLabelList"/>
    <dgm:cxn modelId="{ACCEDB64-9CB7-4D4E-8627-4F6FBAC4A796}" type="presParOf" srcId="{76AB6A7B-B0F1-445C-A7B7-B5382785B2CE}" destId="{3D4C3120-AB95-474F-810B-8FADD6F2C668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CA9DC5B-FB52-4C22-A10B-6C533301A78C}" type="doc">
      <dgm:prSet loTypeId="urn:microsoft.com/office/officeart/2005/8/layout/chart3" loCatId="cycle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69C4164-7016-4428-80BD-11887DBD9D11}">
      <dgm:prSet/>
      <dgm:spPr/>
      <dgm:t>
        <a:bodyPr/>
        <a:lstStyle/>
        <a:p>
          <a:r>
            <a:rPr lang="en-US" b="0"/>
            <a:t>•  Test F1 0.767 matches CV F1 0.760: the estimate is stable on unseen data.</a:t>
          </a:r>
          <a:endParaRPr lang="en-US"/>
        </a:p>
      </dgm:t>
    </dgm:pt>
    <dgm:pt modelId="{73800A33-E273-4F7D-8B07-F51F197D9AFD}" type="parTrans" cxnId="{A41F9A48-B5E0-47EE-A1BB-983BC69FC70E}">
      <dgm:prSet/>
      <dgm:spPr/>
      <dgm:t>
        <a:bodyPr/>
        <a:lstStyle/>
        <a:p>
          <a:endParaRPr lang="en-US"/>
        </a:p>
      </dgm:t>
    </dgm:pt>
    <dgm:pt modelId="{87EFAEBE-3C74-4A9C-9B8A-6DA6CE0D6A3C}" type="sibTrans" cxnId="{A41F9A48-B5E0-47EE-A1BB-983BC69FC70E}">
      <dgm:prSet/>
      <dgm:spPr/>
      <dgm:t>
        <a:bodyPr/>
        <a:lstStyle/>
        <a:p>
          <a:endParaRPr lang="en-US"/>
        </a:p>
      </dgm:t>
    </dgm:pt>
    <dgm:pt modelId="{836B7DEF-E9B7-4E98-A0BA-68CD9C380855}">
      <dgm:prSet/>
      <dgm:spPr/>
      <dgm:t>
        <a:bodyPr/>
        <a:lstStyle/>
        <a:p>
          <a:r>
            <a:rPr lang="en-US" b="0"/>
            <a:t>•  Overfitting is real: train F1 0.93 vs validation 0.76. Regularisation (C) was tuned; the CV curve still rises with more data, so more labelled tweets is the best fix.</a:t>
          </a:r>
          <a:endParaRPr lang="en-US"/>
        </a:p>
      </dgm:t>
    </dgm:pt>
    <dgm:pt modelId="{C53EB33B-F1E4-4E5A-903F-1DF9A97112D4}" type="parTrans" cxnId="{47BA2C32-26D5-4931-8D9A-498D767C1F7F}">
      <dgm:prSet/>
      <dgm:spPr/>
      <dgm:t>
        <a:bodyPr/>
        <a:lstStyle/>
        <a:p>
          <a:endParaRPr lang="en-US"/>
        </a:p>
      </dgm:t>
    </dgm:pt>
    <dgm:pt modelId="{43BAD8AB-058F-4041-A4F6-3AA849E46792}" type="sibTrans" cxnId="{47BA2C32-26D5-4931-8D9A-498D767C1F7F}">
      <dgm:prSet/>
      <dgm:spPr/>
      <dgm:t>
        <a:bodyPr/>
        <a:lstStyle/>
        <a:p>
          <a:endParaRPr lang="en-US"/>
        </a:p>
      </dgm:t>
    </dgm:pt>
    <dgm:pt modelId="{92F2207A-3711-4833-8894-E4E233340427}">
      <dgm:prSet/>
      <dgm:spPr/>
      <dgm:t>
        <a:bodyPr/>
        <a:lstStyle/>
        <a:p>
          <a:r>
            <a:rPr lang="en-US" b="0"/>
            <a:t>•  Noise test (caps, repeated letters, junk URL/hashtag/mention added): F1 0.767 → 0.735, a drop of only 0.031.</a:t>
          </a:r>
          <a:endParaRPr lang="en-US"/>
        </a:p>
      </dgm:t>
    </dgm:pt>
    <dgm:pt modelId="{4218CA6F-9070-479A-8B2B-241024AD5D56}" type="parTrans" cxnId="{95D7BFF9-8E0F-40AB-B7D4-A14AB8B2267C}">
      <dgm:prSet/>
      <dgm:spPr/>
      <dgm:t>
        <a:bodyPr/>
        <a:lstStyle/>
        <a:p>
          <a:endParaRPr lang="en-US"/>
        </a:p>
      </dgm:t>
    </dgm:pt>
    <dgm:pt modelId="{325B5C66-25F7-46D6-AAE3-6534E38CF751}" type="sibTrans" cxnId="{95D7BFF9-8E0F-40AB-B7D4-A14AB8B2267C}">
      <dgm:prSet/>
      <dgm:spPr/>
      <dgm:t>
        <a:bodyPr/>
        <a:lstStyle/>
        <a:p>
          <a:endParaRPr lang="en-US"/>
        </a:p>
      </dgm:t>
    </dgm:pt>
    <dgm:pt modelId="{79B582F6-FFCB-4E7F-8D3A-EF2F986EA671}">
      <dgm:prSet/>
      <dgm:spPr/>
      <dgm:t>
        <a:bodyPr/>
        <a:lstStyle/>
        <a:p>
          <a:r>
            <a:rPr lang="en-US" b="0"/>
            <a:t>•  Not underfitting: it beats the extras-only and LSA baselines clearly.</a:t>
          </a:r>
          <a:endParaRPr lang="en-US"/>
        </a:p>
      </dgm:t>
    </dgm:pt>
    <dgm:pt modelId="{779EEBC1-E6C2-4872-97D6-92EE89432737}" type="parTrans" cxnId="{7F72529C-1C0D-446C-9112-31B6C2D47273}">
      <dgm:prSet/>
      <dgm:spPr/>
      <dgm:t>
        <a:bodyPr/>
        <a:lstStyle/>
        <a:p>
          <a:endParaRPr lang="en-US"/>
        </a:p>
      </dgm:t>
    </dgm:pt>
    <dgm:pt modelId="{267F92B9-59DA-497F-81C4-8B2C41CB3A9B}" type="sibTrans" cxnId="{7F72529C-1C0D-446C-9112-31B6C2D47273}">
      <dgm:prSet/>
      <dgm:spPr/>
      <dgm:t>
        <a:bodyPr/>
        <a:lstStyle/>
        <a:p>
          <a:endParaRPr lang="en-US"/>
        </a:p>
      </dgm:t>
    </dgm:pt>
    <dgm:pt modelId="{407AF531-A8AA-44DC-AAE2-35BF5EA24754}" type="pres">
      <dgm:prSet presAssocID="{5CA9DC5B-FB52-4C22-A10B-6C533301A78C}" presName="compositeShape" presStyleCnt="0">
        <dgm:presLayoutVars>
          <dgm:chMax val="7"/>
          <dgm:dir/>
          <dgm:resizeHandles val="exact"/>
        </dgm:presLayoutVars>
      </dgm:prSet>
      <dgm:spPr/>
    </dgm:pt>
    <dgm:pt modelId="{0CF4C76A-B607-4C70-875C-600F2FF9BC46}" type="pres">
      <dgm:prSet presAssocID="{5CA9DC5B-FB52-4C22-A10B-6C533301A78C}" presName="wedge1" presStyleLbl="node1" presStyleIdx="0" presStyleCnt="4"/>
      <dgm:spPr/>
    </dgm:pt>
    <dgm:pt modelId="{32EDCD77-C805-4631-8361-1293D09FAAEE}" type="pres">
      <dgm:prSet presAssocID="{5CA9DC5B-FB52-4C22-A10B-6C533301A78C}" presName="wedge1Tx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6B002E42-10C7-4861-A52A-FCE3F8F12BF6}" type="pres">
      <dgm:prSet presAssocID="{5CA9DC5B-FB52-4C22-A10B-6C533301A78C}" presName="wedge2" presStyleLbl="node1" presStyleIdx="1" presStyleCnt="4"/>
      <dgm:spPr/>
    </dgm:pt>
    <dgm:pt modelId="{AE6B1053-6824-4712-B477-28A773ED4B60}" type="pres">
      <dgm:prSet presAssocID="{5CA9DC5B-FB52-4C22-A10B-6C533301A78C}" presName="wedge2Tx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C05C19C3-768E-4694-9739-ED00A4565098}" type="pres">
      <dgm:prSet presAssocID="{5CA9DC5B-FB52-4C22-A10B-6C533301A78C}" presName="wedge3" presStyleLbl="node1" presStyleIdx="2" presStyleCnt="4"/>
      <dgm:spPr/>
    </dgm:pt>
    <dgm:pt modelId="{8615890F-1E44-43F7-B025-4EFFEA3B72B4}" type="pres">
      <dgm:prSet presAssocID="{5CA9DC5B-FB52-4C22-A10B-6C533301A78C}" presName="wedge3Tx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21AB3402-EF74-49DC-821E-9DC7F4DC36F8}" type="pres">
      <dgm:prSet presAssocID="{5CA9DC5B-FB52-4C22-A10B-6C533301A78C}" presName="wedge4" presStyleLbl="node1" presStyleIdx="3" presStyleCnt="4"/>
      <dgm:spPr/>
    </dgm:pt>
    <dgm:pt modelId="{18CD0F65-39A5-4B7D-AC67-1CD56C02F526}" type="pres">
      <dgm:prSet presAssocID="{5CA9DC5B-FB52-4C22-A10B-6C533301A78C}" presName="wedge4Tx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505E8E03-BA65-4AC8-A681-4813EB2007EB}" type="presOf" srcId="{A69C4164-7016-4428-80BD-11887DBD9D11}" destId="{32EDCD77-C805-4631-8361-1293D09FAAEE}" srcOrd="1" destOrd="0" presId="urn:microsoft.com/office/officeart/2005/8/layout/chart3"/>
    <dgm:cxn modelId="{B9346B27-B661-49BE-9985-DC15EF28BC70}" type="presOf" srcId="{92F2207A-3711-4833-8894-E4E233340427}" destId="{8615890F-1E44-43F7-B025-4EFFEA3B72B4}" srcOrd="1" destOrd="0" presId="urn:microsoft.com/office/officeart/2005/8/layout/chart3"/>
    <dgm:cxn modelId="{A9DC7A29-0375-4D5A-9DA3-314A415A945A}" type="presOf" srcId="{5CA9DC5B-FB52-4C22-A10B-6C533301A78C}" destId="{407AF531-A8AA-44DC-AAE2-35BF5EA24754}" srcOrd="0" destOrd="0" presId="urn:microsoft.com/office/officeart/2005/8/layout/chart3"/>
    <dgm:cxn modelId="{47BA2C32-26D5-4931-8D9A-498D767C1F7F}" srcId="{5CA9DC5B-FB52-4C22-A10B-6C533301A78C}" destId="{836B7DEF-E9B7-4E98-A0BA-68CD9C380855}" srcOrd="1" destOrd="0" parTransId="{C53EB33B-F1E4-4E5A-903F-1DF9A97112D4}" sibTransId="{43BAD8AB-058F-4041-A4F6-3AA849E46792}"/>
    <dgm:cxn modelId="{7C259D40-D692-4DA9-957A-A0825FC30BE0}" type="presOf" srcId="{A69C4164-7016-4428-80BD-11887DBD9D11}" destId="{0CF4C76A-B607-4C70-875C-600F2FF9BC46}" srcOrd="0" destOrd="0" presId="urn:microsoft.com/office/officeart/2005/8/layout/chart3"/>
    <dgm:cxn modelId="{A41F9A48-B5E0-47EE-A1BB-983BC69FC70E}" srcId="{5CA9DC5B-FB52-4C22-A10B-6C533301A78C}" destId="{A69C4164-7016-4428-80BD-11887DBD9D11}" srcOrd="0" destOrd="0" parTransId="{73800A33-E273-4F7D-8B07-F51F197D9AFD}" sibTransId="{87EFAEBE-3C74-4A9C-9B8A-6DA6CE0D6A3C}"/>
    <dgm:cxn modelId="{5CA50857-BAF3-4DBA-B16E-5DAC74AB1A20}" type="presOf" srcId="{79B582F6-FFCB-4E7F-8D3A-EF2F986EA671}" destId="{21AB3402-EF74-49DC-821E-9DC7F4DC36F8}" srcOrd="0" destOrd="0" presId="urn:microsoft.com/office/officeart/2005/8/layout/chart3"/>
    <dgm:cxn modelId="{BF416077-0ABE-45BE-85CC-858D3AA06C2B}" type="presOf" srcId="{92F2207A-3711-4833-8894-E4E233340427}" destId="{C05C19C3-768E-4694-9739-ED00A4565098}" srcOrd="0" destOrd="0" presId="urn:microsoft.com/office/officeart/2005/8/layout/chart3"/>
    <dgm:cxn modelId="{0247A07D-B72B-475A-81E2-0E5A3644967E}" type="presOf" srcId="{79B582F6-FFCB-4E7F-8D3A-EF2F986EA671}" destId="{18CD0F65-39A5-4B7D-AC67-1CD56C02F526}" srcOrd="1" destOrd="0" presId="urn:microsoft.com/office/officeart/2005/8/layout/chart3"/>
    <dgm:cxn modelId="{7F72529C-1C0D-446C-9112-31B6C2D47273}" srcId="{5CA9DC5B-FB52-4C22-A10B-6C533301A78C}" destId="{79B582F6-FFCB-4E7F-8D3A-EF2F986EA671}" srcOrd="3" destOrd="0" parTransId="{779EEBC1-E6C2-4872-97D6-92EE89432737}" sibTransId="{267F92B9-59DA-497F-81C4-8B2C41CB3A9B}"/>
    <dgm:cxn modelId="{77EC14AD-C50D-41AE-9F15-7F76BA511414}" type="presOf" srcId="{836B7DEF-E9B7-4E98-A0BA-68CD9C380855}" destId="{AE6B1053-6824-4712-B477-28A773ED4B60}" srcOrd="1" destOrd="0" presId="urn:microsoft.com/office/officeart/2005/8/layout/chart3"/>
    <dgm:cxn modelId="{4DD37EF6-A786-4A69-9F7B-F81334C82B9D}" type="presOf" srcId="{836B7DEF-E9B7-4E98-A0BA-68CD9C380855}" destId="{6B002E42-10C7-4861-A52A-FCE3F8F12BF6}" srcOrd="0" destOrd="0" presId="urn:microsoft.com/office/officeart/2005/8/layout/chart3"/>
    <dgm:cxn modelId="{95D7BFF9-8E0F-40AB-B7D4-A14AB8B2267C}" srcId="{5CA9DC5B-FB52-4C22-A10B-6C533301A78C}" destId="{92F2207A-3711-4833-8894-E4E233340427}" srcOrd="2" destOrd="0" parTransId="{4218CA6F-9070-479A-8B2B-241024AD5D56}" sibTransId="{325B5C66-25F7-46D6-AAE3-6534E38CF751}"/>
    <dgm:cxn modelId="{57FFCB73-A565-4115-92C1-D4B71E7D675F}" type="presParOf" srcId="{407AF531-A8AA-44DC-AAE2-35BF5EA24754}" destId="{0CF4C76A-B607-4C70-875C-600F2FF9BC46}" srcOrd="0" destOrd="0" presId="urn:microsoft.com/office/officeart/2005/8/layout/chart3"/>
    <dgm:cxn modelId="{CB0972A8-ADFA-4FA7-98E9-F3EEDD632E14}" type="presParOf" srcId="{407AF531-A8AA-44DC-AAE2-35BF5EA24754}" destId="{32EDCD77-C805-4631-8361-1293D09FAAEE}" srcOrd="1" destOrd="0" presId="urn:microsoft.com/office/officeart/2005/8/layout/chart3"/>
    <dgm:cxn modelId="{772C8388-72C0-4D8F-B557-05043BD2BBAF}" type="presParOf" srcId="{407AF531-A8AA-44DC-AAE2-35BF5EA24754}" destId="{6B002E42-10C7-4861-A52A-FCE3F8F12BF6}" srcOrd="2" destOrd="0" presId="urn:microsoft.com/office/officeart/2005/8/layout/chart3"/>
    <dgm:cxn modelId="{98F38D77-A27A-4D86-AE11-8FCCD10F434C}" type="presParOf" srcId="{407AF531-A8AA-44DC-AAE2-35BF5EA24754}" destId="{AE6B1053-6824-4712-B477-28A773ED4B60}" srcOrd="3" destOrd="0" presId="urn:microsoft.com/office/officeart/2005/8/layout/chart3"/>
    <dgm:cxn modelId="{BB932527-0D5D-4805-9F5B-46B53528220A}" type="presParOf" srcId="{407AF531-A8AA-44DC-AAE2-35BF5EA24754}" destId="{C05C19C3-768E-4694-9739-ED00A4565098}" srcOrd="4" destOrd="0" presId="urn:microsoft.com/office/officeart/2005/8/layout/chart3"/>
    <dgm:cxn modelId="{7C0D7215-F78C-4290-AA37-57AAD5D1A585}" type="presParOf" srcId="{407AF531-A8AA-44DC-AAE2-35BF5EA24754}" destId="{8615890F-1E44-43F7-B025-4EFFEA3B72B4}" srcOrd="5" destOrd="0" presId="urn:microsoft.com/office/officeart/2005/8/layout/chart3"/>
    <dgm:cxn modelId="{5BC39AE5-3E56-4E98-A5E0-A0D7CBD70A73}" type="presParOf" srcId="{407AF531-A8AA-44DC-AAE2-35BF5EA24754}" destId="{21AB3402-EF74-49DC-821E-9DC7F4DC36F8}" srcOrd="6" destOrd="0" presId="urn:microsoft.com/office/officeart/2005/8/layout/chart3"/>
    <dgm:cxn modelId="{692F4496-D290-443F-B460-C60FA5CB1A39}" type="presParOf" srcId="{407AF531-A8AA-44DC-AAE2-35BF5EA24754}" destId="{18CD0F65-39A5-4B7D-AC67-1CD56C02F526}" srcOrd="7" destOrd="0" presId="urn:microsoft.com/office/officeart/2005/8/layout/char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52A3BF-49E7-4680-A6FB-65E99465DE4E}">
      <dsp:nvSpPr>
        <dsp:cNvPr id="0" name=""/>
        <dsp:cNvSpPr/>
      </dsp:nvSpPr>
      <dsp:spPr>
        <a:xfrm>
          <a:off x="473563" y="969149"/>
          <a:ext cx="773613" cy="7736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5F0F1E-DA1A-4A22-9CC2-B60E674C51EE}">
      <dsp:nvSpPr>
        <dsp:cNvPr id="0" name=""/>
        <dsp:cNvSpPr/>
      </dsp:nvSpPr>
      <dsp:spPr>
        <a:xfrm>
          <a:off x="799" y="2000794"/>
          <a:ext cx="1719140" cy="6876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kern="1200"/>
            <a:t>•  Relief agencies and newsrooms want automated Twitter monitoring for disasters.</a:t>
          </a:r>
          <a:endParaRPr lang="en-US" sz="1100" kern="1200"/>
        </a:p>
      </dsp:txBody>
      <dsp:txXfrm>
        <a:off x="799" y="2000794"/>
        <a:ext cx="1719140" cy="687656"/>
      </dsp:txXfrm>
    </dsp:sp>
    <dsp:sp modelId="{AE0C1F71-0381-434C-9BCB-BEDDF817E0A9}">
      <dsp:nvSpPr>
        <dsp:cNvPr id="0" name=""/>
        <dsp:cNvSpPr/>
      </dsp:nvSpPr>
      <dsp:spPr>
        <a:xfrm>
          <a:off x="2493553" y="969149"/>
          <a:ext cx="773613" cy="7736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C62E04-B157-46BE-9997-7F31B759865F}">
      <dsp:nvSpPr>
        <dsp:cNvPr id="0" name=""/>
        <dsp:cNvSpPr/>
      </dsp:nvSpPr>
      <dsp:spPr>
        <a:xfrm>
          <a:off x="2020789" y="2000794"/>
          <a:ext cx="1719140" cy="6876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kern="1200"/>
            <a:t>•  Keywords alone fail: "this song is fire" is not a wildfire.</a:t>
          </a:r>
          <a:endParaRPr lang="en-US" sz="1100" kern="1200"/>
        </a:p>
      </dsp:txBody>
      <dsp:txXfrm>
        <a:off x="2020789" y="2000794"/>
        <a:ext cx="1719140" cy="687656"/>
      </dsp:txXfrm>
    </dsp:sp>
    <dsp:sp modelId="{28F20C92-F819-447B-B64A-CDF06BDD99F3}">
      <dsp:nvSpPr>
        <dsp:cNvPr id="0" name=""/>
        <dsp:cNvSpPr/>
      </dsp:nvSpPr>
      <dsp:spPr>
        <a:xfrm>
          <a:off x="4513543" y="969149"/>
          <a:ext cx="773613" cy="7736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4C3120-AB95-474F-810B-8FADD6F2C668}">
      <dsp:nvSpPr>
        <dsp:cNvPr id="0" name=""/>
        <dsp:cNvSpPr/>
      </dsp:nvSpPr>
      <dsp:spPr>
        <a:xfrm>
          <a:off x="4040779" y="2000794"/>
          <a:ext cx="1719140" cy="6876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kern="1200"/>
            <a:t>•  Goal: high precision (few false alarms) and good recall, robust to slang and noise, fast enough to scale.</a:t>
          </a:r>
          <a:endParaRPr lang="en-US" sz="1100" kern="1200"/>
        </a:p>
      </dsp:txBody>
      <dsp:txXfrm>
        <a:off x="4040779" y="2000794"/>
        <a:ext cx="1719140" cy="68765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F4C76A-B607-4C70-875C-600F2FF9BC46}">
      <dsp:nvSpPr>
        <dsp:cNvPr id="0" name=""/>
        <dsp:cNvSpPr/>
      </dsp:nvSpPr>
      <dsp:spPr>
        <a:xfrm>
          <a:off x="1132484" y="284835"/>
          <a:ext cx="3840480" cy="3840480"/>
        </a:xfrm>
        <a:prstGeom prst="pie">
          <a:avLst>
            <a:gd name="adj1" fmla="val 1620000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0" kern="1200"/>
            <a:t>•  Test F1 0.767 matches CV F1 0.760: the estimate is stable on unseen data.</a:t>
          </a:r>
          <a:endParaRPr lang="en-US" sz="1000" kern="1200"/>
        </a:p>
      </dsp:txBody>
      <dsp:txXfrm>
        <a:off x="3096615" y="995324"/>
        <a:ext cx="1417320" cy="1143000"/>
      </dsp:txXfrm>
    </dsp:sp>
    <dsp:sp modelId="{6B002E42-10C7-4861-A52A-FCE3F8F12BF6}">
      <dsp:nvSpPr>
        <dsp:cNvPr id="0" name=""/>
        <dsp:cNvSpPr/>
      </dsp:nvSpPr>
      <dsp:spPr>
        <a:xfrm>
          <a:off x="970635" y="446684"/>
          <a:ext cx="3840480" cy="3840480"/>
        </a:xfrm>
        <a:prstGeom prst="pie">
          <a:avLst>
            <a:gd name="adj1" fmla="val 0"/>
            <a:gd name="adj2" fmla="val 54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0" kern="1200"/>
            <a:t>•  Overfitting is real: train F1 0.93 vs validation 0.76. Regularisation (C) was tuned; the CV curve still rises with more data, so more labelled tweets is the best fix.</a:t>
          </a:r>
          <a:endParaRPr lang="en-US" sz="1000" kern="1200"/>
        </a:p>
      </dsp:txBody>
      <dsp:txXfrm>
        <a:off x="2959455" y="2435504"/>
        <a:ext cx="1417320" cy="1143000"/>
      </dsp:txXfrm>
    </dsp:sp>
    <dsp:sp modelId="{C05C19C3-768E-4694-9739-ED00A4565098}">
      <dsp:nvSpPr>
        <dsp:cNvPr id="0" name=""/>
        <dsp:cNvSpPr/>
      </dsp:nvSpPr>
      <dsp:spPr>
        <a:xfrm>
          <a:off x="970635" y="446684"/>
          <a:ext cx="3840480" cy="3840480"/>
        </a:xfrm>
        <a:prstGeom prst="pie">
          <a:avLst>
            <a:gd name="adj1" fmla="val 5400000"/>
            <a:gd name="adj2" fmla="val 108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0" kern="1200"/>
            <a:t>•  Noise test (caps, repeated letters, junk URL/hashtag/mention added): F1 0.767 → 0.735, a drop of only 0.031.</a:t>
          </a:r>
          <a:endParaRPr lang="en-US" sz="1000" kern="1200"/>
        </a:p>
      </dsp:txBody>
      <dsp:txXfrm>
        <a:off x="1404975" y="2435504"/>
        <a:ext cx="1417320" cy="1143000"/>
      </dsp:txXfrm>
    </dsp:sp>
    <dsp:sp modelId="{21AB3402-EF74-49DC-821E-9DC7F4DC36F8}">
      <dsp:nvSpPr>
        <dsp:cNvPr id="0" name=""/>
        <dsp:cNvSpPr/>
      </dsp:nvSpPr>
      <dsp:spPr>
        <a:xfrm>
          <a:off x="970635" y="446684"/>
          <a:ext cx="3840480" cy="3840480"/>
        </a:xfrm>
        <a:prstGeom prst="pie">
          <a:avLst>
            <a:gd name="adj1" fmla="val 108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0" kern="1200"/>
            <a:t>•  Not underfitting: it beats the extras-only and LSA baselines clearly.</a:t>
          </a:r>
          <a:endParaRPr lang="en-US" sz="1000" kern="1200"/>
        </a:p>
      </dsp:txBody>
      <dsp:txXfrm>
        <a:off x="1404975" y="1155344"/>
        <a:ext cx="1417320" cy="1143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art3">
  <dgm:title val=""/>
  <dgm:desc val=""/>
  <dgm:catLst>
    <dgm:cat type="relationship" pri="27000"/>
    <dgm:cat type="cycle" pri="8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presOf/>
    <dgm:shape xmlns:r="http://schemas.openxmlformats.org/officeDocument/2006/relationships" r:blip="">
      <dgm:adjLst/>
    </dgm:shape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205"/>
          <dgm:constr type="t" for="ch" forName="wedge1Tx" refType="h" fact="0.205"/>
          <dgm:constr type="w" for="ch" forName="wedge1Tx" refType="w" fact="0.59"/>
          <dgm:constr type="h" for="ch" forName="wedge1Tx" refType="h" fact="0.59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52"/>
          <dgm:constr type="t" for="ch" forName="wedge1Tx" refType="h" fact="0.205"/>
          <dgm:constr type="w" for="ch" forName="wedge1Tx" refType="w" fact="0.295"/>
          <dgm:constr type="h" for="ch" forName="wedge1Tx" refType="h" fact="0.59"/>
          <dgm:constr type="l" for="ch" forName="wedge2" refType="w" fact="0.08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wedge2Tx" refType="w" fact="0.2"/>
          <dgm:constr type="t" for="ch" forName="wedge2Tx" refType="h" fact="0.205"/>
          <dgm:constr type="w" for="ch" forName="wedge2Tx" refType="w" fact="0.295"/>
          <dgm:constr type="h" for="ch" forName="wedge2Tx" refType="h" fact="0.59"/>
          <dgm:constr type="primFontSz" for="ch" ptType="node" op="equ"/>
        </dgm:constrLst>
      </dgm:if>
      <dgm:if name="Name3" axis="ch" ptType="node" func="cnt" op="equ" val="3">
        <dgm:choose name="Name4">
          <dgm:if name="Name5" func="var" arg="dir" op="equ" val="norm">
            <dgm:constrLst>
              <dgm:constr type="l" for="ch" forName="wedge1" refType="w" fact="0.1233"/>
              <dgm:constr type="t" for="ch" forName="wedge1" refType="w" fact="0.055"/>
              <dgm:constr type="w" for="ch" forName="wedge1" refType="w" fact="0.84"/>
              <dgm:constr type="h" for="ch" forName="wedge1" refType="h" fact="0.84"/>
              <dgm:constr type="l" for="ch" forName="wedge1Tx" refType="w" fact="0.58"/>
              <dgm:constr type="t" for="ch" forName="wedge1Tx" refType="h" fact="0.21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"/>
              <dgm:constr type="t" for="ch" forName="wedge3Tx" refType="h" fact="0.245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if>
          <dgm:else name="Name6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45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367"/>
              <dgm:constr type="t" for="ch" forName="wedge3" refType="w" fact="0.055"/>
              <dgm:constr type="w" for="ch" forName="wedge3" refType="w" fact="0.84"/>
              <dgm:constr type="h" for="ch" forName="wedge3" refType="h" fact="0.84"/>
              <dgm:constr type="l" for="ch" forName="wedge3Tx" refType="w" fact="0.14"/>
              <dgm:constr type="t" for="ch" forName="wedge3Tx" refType="h" fact="0.21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else>
        </dgm:choose>
      </dgm:if>
      <dgm:if name="Name7" axis="ch" ptType="node" func="cnt" op="equ" val="4">
        <dgm:choose name="Name8">
          <dgm:if name="Name9" func="var" arg="dir" op="equ" val="norm">
            <dgm:constrLst>
              <dgm:constr type="l" for="ch" forName="wedge1" refType="w" fact="0.1154"/>
              <dgm:constr type="t" for="ch" forName="wedge1" refType="w" fact="0.0446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75"/>
              <dgm:constr type="t" for="ch" forName="wedge4Tx" refType="h" fact="0.235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if>
          <dgm:else name="Name10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5"/>
              <dgm:constr type="t" for="ch" forName="wedge1Tx" refType="h" fact="0.235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446"/>
              <dgm:constr type="t" for="ch" forName="wedge4" refType="h" fact="0.0446"/>
              <dgm:constr type="w" for="ch" forName="wedge4" refType="w" fact="0.84"/>
              <dgm:constr type="h" for="ch" forName="wedge4" refType="h" fact="0.84"/>
              <dgm:constr type="l" for="ch" forName="wedge4Tx" refType="w" fact="0.145"/>
              <dgm:constr type="t" for="ch" forName="wedge4Tx" refType="h" fact="0.2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else>
        </dgm:choose>
      </dgm:if>
      <dgm:if name="Name11" axis="ch" ptType="node" func="cnt" op="equ" val="5">
        <dgm:choose name="Name12">
          <dgm:if name="Name13" func="var" arg="dir" op="equ" val="norm">
            <dgm:constrLst>
              <dgm:constr type="l" for="ch" forName="wedge1" refType="w" fact="0.1094"/>
              <dgm:constr type="t" for="ch" forName="wedge1" refType="w" fact="0.0395"/>
              <dgm:constr type="w" for="ch" forName="wedge1" refType="w" fact="0.84"/>
              <dgm:constr type="h" for="ch" forName="wedge1" refType="h" fact="0.84"/>
              <dgm:constr type="l" for="ch" forName="wedge1Tx" refType="w" fact="0.54"/>
              <dgm:constr type="t" for="ch" forName="wedge1Tx" refType="h" fact="0.165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2025"/>
              <dgm:constr type="t" for="ch" forName="wedge5Tx" refType="h" fact="0.208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if>
          <dgm:else name="Name14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"/>
              <dgm:constr type="t" for="ch" forName="wedge1Tx" refType="h" fact="0.208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506"/>
              <dgm:constr type="t" for="ch" forName="wedge5" refType="h" fact="0.0395"/>
              <dgm:constr type="w" for="ch" forName="wedge5" refType="w" fact="0.84"/>
              <dgm:constr type="h" for="ch" forName="wedge5" refType="h" fact="0.84"/>
              <dgm:constr type="l" for="ch" forName="wedge5Tx" refType="w" fact="0.18"/>
              <dgm:constr type="t" for="ch" forName="wedge5Tx" refType="h" fact="0.165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else>
        </dgm:choose>
      </dgm:if>
      <dgm:if name="Name15" axis="ch" ptType="node" func="cnt" op="equ" val="6">
        <dgm:choose name="Name16">
          <dgm:if name="Name17" func="var" arg="dir" op="equ" val="norm">
            <dgm:constrLst>
              <dgm:constr type="l" for="ch" forName="wedge1" refType="w" fact="0.105"/>
              <dgm:constr type="t" for="ch" forName="wedge1" refType="w" fact="0.0367"/>
              <dgm:constr type="w" for="ch" forName="wedge1" refType="w" fact="0.84"/>
              <dgm:constr type="h" for="ch" forName="wedge1" refType="h" fact="0.84"/>
              <dgm:constr type="l" for="ch" forName="wedge1Tx" refType="w" fact="0.534"/>
              <dgm:constr type="t" for="ch" forName="wedge1Tx" refType="h" fact="0.126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246"/>
              <dgm:constr type="t" for="ch" forName="wedge6Tx" refType="h" fact="0.1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if>
          <dgm:else name="Name18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9"/>
              <dgm:constr type="t" for="ch" forName="wedge1Tx" refType="h" fact="0.1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55"/>
              <dgm:constr type="t" for="ch" forName="wedge6" refType="h" fact="0.0367"/>
              <dgm:constr type="w" for="ch" forName="wedge6" refType="w" fact="0.84"/>
              <dgm:constr type="h" for="ch" forName="wedge6" refType="h" fact="0.84"/>
              <dgm:constr type="l" for="ch" forName="wedge6Tx" refType="w" fact="0.221"/>
              <dgm:constr type="t" for="ch" forName="wedge6Tx" refType="h" fact="0.126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else>
        </dgm:choose>
      </dgm:if>
      <dgm:else name="Name19">
        <dgm:choose name="Name20">
          <dgm:if name="Name21" func="var" arg="dir" op="equ" val="norm">
            <dgm:constrLst>
              <dgm:constr type="l" for="ch" forName="wedge1" refType="w" fact="0.1017"/>
              <dgm:constr type="t" for="ch" forName="wedge1" refType="w" fact="0.035"/>
              <dgm:constr type="w" for="ch" forName="wedge1" refType="w" fact="0.84"/>
              <dgm:constr type="h" for="ch" forName="wedge1" refType="h" fact="0.84"/>
              <dgm:constr type="l" for="ch" forName="wedge1Tx" refType="w" fact="0.53"/>
              <dgm:constr type="t" for="ch" forName="wedge1Tx" refType="h" fact="0.115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8"/>
              <dgm:constr type="t" for="ch" forName="wedge7" refType="h" fact="0.08"/>
              <dgm:constr type="w" for="ch" forName="wedge7" refType="w" fact="0.84"/>
              <dgm:constr type="h" for="ch" forName="wedge7" refType="h" fact="0.84"/>
              <dgm:constr type="l" for="ch" forName="wedge7Tx" refType="w" fact="0.262"/>
              <dgm:constr type="t" for="ch" forName="wedge7Tx" refType="h" fact="0.16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if>
          <dgm:else name="Name22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8"/>
              <dgm:constr type="t" for="ch" forName="wedge1Tx" refType="h" fact="0.16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583"/>
              <dgm:constr type="t" for="ch" forName="wedge7" refType="h" fact="0.035"/>
              <dgm:constr type="w" for="ch" forName="wedge7" refType="w" fact="0.84"/>
              <dgm:constr type="h" for="ch" forName="wedge7" refType="h" fact="0.84"/>
              <dgm:constr type="l" for="ch" forName="wedge7Tx" refType="w" fact="0.2403"/>
              <dgm:constr type="t" for="ch" forName="wedge7Tx" refType="h" fact="0.115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else>
        </dgm:choose>
      </dgm:else>
    </dgm:choose>
    <dgm:ruleLst/>
    <dgm:choose name="Name23">
      <dgm:if name="Name24" axis="ch" ptType="node" func="cnt" op="gte" val="1">
        <dgm:layoutNode name="wedge1">
          <dgm:alg type="sp"/>
          <dgm:choose name="Name25">
            <dgm:if name="Name26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27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28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29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30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31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32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33">
            <dgm:if name="Name34" func="var" arg="dir" op="equ" val="norm">
              <dgm:presOf axis="ch desOrSelf" ptType="node node" st="1 1" cnt="1 0"/>
            </dgm:if>
            <dgm:else name="Name35">
              <dgm:choose name="Name36">
                <dgm:if name="Name37" axis="ch" ptType="node" func="cnt" op="equ" val="1">
                  <dgm:presOf axis="ch desOrSelf" ptType="node node" st="1 1" cnt="1 0"/>
                </dgm:if>
                <dgm:if name="Name38" axis="ch" ptType="node" func="cnt" op="equ" val="2">
                  <dgm:presOf axis="ch desOrSelf" ptType="node node" st="2 1" cnt="1 0"/>
                </dgm:if>
                <dgm:if name="Name39" axis="ch" ptType="node" func="cnt" op="equ" val="3">
                  <dgm:presOf axis="ch desOrSelf" ptType="node node" st="3 1" cnt="1 0"/>
                </dgm:if>
                <dgm:if name="Name40" axis="ch" ptType="node" func="cnt" op="equ" val="4">
                  <dgm:presOf axis="ch desOrSelf" ptType="node node" st="4 1" cnt="1 0"/>
                </dgm:if>
                <dgm:if name="Name41" axis="ch" ptType="node" func="cnt" op="equ" val="5">
                  <dgm:presOf axis="ch desOrSelf" ptType="node node" st="5 1" cnt="1 0"/>
                </dgm:if>
                <dgm:if name="Name42" axis="ch" ptType="node" func="cnt" op="equ" val="6">
                  <dgm:presOf axis="ch desOrSelf" ptType="node node" st="6 1" cnt="1 0"/>
                </dgm:if>
                <dgm:else name="Name43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44">
            <dgm:if name="Name45" func="var" arg="dir" op="equ" val="norm">
              <dgm:presOf axis="ch desOrSelf" ptType="node node" st="1 1" cnt="1 0"/>
            </dgm:if>
            <dgm:else name="Name46">
              <dgm:choose name="Name47">
                <dgm:if name="Name48" axis="ch" ptType="node" func="cnt" op="equ" val="1">
                  <dgm:presOf axis="ch desOrSelf" ptType="node node" st="1 1" cnt="1 0"/>
                </dgm:if>
                <dgm:if name="Name49" axis="ch" ptType="node" func="cnt" op="equ" val="2">
                  <dgm:presOf axis="ch desOrSelf" ptType="node node" st="2 1" cnt="1 0"/>
                </dgm:if>
                <dgm:if name="Name50" axis="ch" ptType="node" func="cnt" op="equ" val="3">
                  <dgm:presOf axis="ch desOrSelf" ptType="node node" st="3 1" cnt="1 0"/>
                </dgm:if>
                <dgm:if name="Name51" axis="ch" ptType="node" func="cnt" op="equ" val="4">
                  <dgm:presOf axis="ch desOrSelf" ptType="node node" st="4 1" cnt="1 0"/>
                </dgm:if>
                <dgm:if name="Name52" axis="ch" ptType="node" func="cnt" op="equ" val="5">
                  <dgm:presOf axis="ch desOrSelf" ptType="node node" st="5 1" cnt="1 0"/>
                </dgm:if>
                <dgm:if name="Name53" axis="ch" ptType="node" func="cnt" op="equ" val="6">
                  <dgm:presOf axis="ch desOrSelf" ptType="node node" st="6 1" cnt="1 0"/>
                </dgm:if>
                <dgm:else name="Name54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55"/>
    </dgm:choose>
    <dgm:choose name="Name56">
      <dgm:if name="Name57" axis="ch" ptType="node" func="cnt" op="gte" val="2">
        <dgm:layoutNode name="wedge2">
          <dgm:alg type="sp"/>
          <dgm:choose name="Name58">
            <dgm:if name="Name59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60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61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62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63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64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65">
            <dgm:if name="Name66" func="var" arg="dir" op="equ" val="norm">
              <dgm:presOf axis="ch desOrSelf" ptType="node node" st="2 1" cnt="1 0"/>
            </dgm:if>
            <dgm:else name="Name67">
              <dgm:choose name="Name68">
                <dgm:if name="Name69" axis="ch" ptType="node" func="cnt" op="equ" val="2">
                  <dgm:presOf axis="ch desOrSelf" ptType="node node" st="1 1" cnt="1 0"/>
                </dgm:if>
                <dgm:if name="Name70" axis="ch" ptType="node" func="cnt" op="equ" val="3">
                  <dgm:presOf axis="ch desOrSelf" ptType="node node" st="2 1" cnt="1 0"/>
                </dgm:if>
                <dgm:if name="Name71" axis="ch" ptType="node" func="cnt" op="equ" val="4">
                  <dgm:presOf axis="ch desOrSelf" ptType="node node" st="3 1" cnt="1 0"/>
                </dgm:if>
                <dgm:if name="Name72" axis="ch" ptType="node" func="cnt" op="equ" val="5">
                  <dgm:presOf axis="ch desOrSelf" ptType="node node" st="4 1" cnt="1 0"/>
                </dgm:if>
                <dgm:if name="Name73" axis="ch" ptType="node" func="cnt" op="equ" val="6">
                  <dgm:presOf axis="ch desOrSelf" ptType="node node" st="5 1" cnt="1 0"/>
                </dgm:if>
                <dgm:else name="Name74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75">
            <dgm:if name="Name76" func="var" arg="dir" op="equ" val="norm">
              <dgm:presOf axis="ch desOrSelf" ptType="node node" st="2 1" cnt="1 0"/>
            </dgm:if>
            <dgm:else name="Name77">
              <dgm:choose name="Name78">
                <dgm:if name="Name79" axis="ch" ptType="node" func="cnt" op="equ" val="2">
                  <dgm:presOf axis="ch desOrSelf" ptType="node node" st="1 1" cnt="1 0"/>
                </dgm:if>
                <dgm:if name="Name80" axis="ch" ptType="node" func="cnt" op="equ" val="3">
                  <dgm:presOf axis="ch desOrSelf" ptType="node node" st="2 1" cnt="1 0"/>
                </dgm:if>
                <dgm:if name="Name81" axis="ch" ptType="node" func="cnt" op="equ" val="4">
                  <dgm:presOf axis="ch desOrSelf" ptType="node node" st="3 1" cnt="1 0"/>
                </dgm:if>
                <dgm:if name="Name82" axis="ch" ptType="node" func="cnt" op="equ" val="5">
                  <dgm:presOf axis="ch desOrSelf" ptType="node node" st="4 1" cnt="1 0"/>
                </dgm:if>
                <dgm:if name="Name83" axis="ch" ptType="node" func="cnt" op="equ" val="6">
                  <dgm:presOf axis="ch desOrSelf" ptType="node node" st="5 1" cnt="1 0"/>
                </dgm:if>
                <dgm:else name="Name84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85"/>
    </dgm:choose>
    <dgm:choose name="Name86">
      <dgm:if name="Name87" axis="ch" ptType="node" func="cnt" op="gte" val="3">
        <dgm:layoutNode name="wedge3">
          <dgm:alg type="sp"/>
          <dgm:choose name="Name88">
            <dgm:if name="Name89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90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91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92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93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94">
            <dgm:if name="Name95" func="var" arg="dir" op="equ" val="norm">
              <dgm:presOf axis="ch desOrSelf" ptType="node node" st="3 1" cnt="1 0"/>
            </dgm:if>
            <dgm:else name="Name96">
              <dgm:choose name="Name97">
                <dgm:if name="Name98" axis="ch" ptType="node" func="cnt" op="equ" val="3">
                  <dgm:presOf axis="ch desOrSelf" ptType="node node" st="1 1" cnt="1 0"/>
                </dgm:if>
                <dgm:if name="Name99" axis="ch" ptType="node" func="cnt" op="equ" val="4">
                  <dgm:presOf axis="ch desOrSelf" ptType="node node" st="2 1" cnt="1 0"/>
                </dgm:if>
                <dgm:if name="Name100" axis="ch" ptType="node" func="cnt" op="equ" val="5">
                  <dgm:presOf axis="ch desOrSelf" ptType="node node" st="3 1" cnt="1 0"/>
                </dgm:if>
                <dgm:if name="Name101" axis="ch" ptType="node" func="cnt" op="equ" val="6">
                  <dgm:presOf axis="ch desOrSelf" ptType="node node" st="4 1" cnt="1 0"/>
                </dgm:if>
                <dgm:else name="Name102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03">
            <dgm:if name="Name104" func="var" arg="dir" op="equ" val="norm">
              <dgm:presOf axis="ch desOrSelf" ptType="node node" st="3 1" cnt="1 0"/>
            </dgm:if>
            <dgm:else name="Name105">
              <dgm:choose name="Name106">
                <dgm:if name="Name107" axis="ch" ptType="node" func="cnt" op="equ" val="3">
                  <dgm:presOf axis="ch desOrSelf" ptType="node node" st="1 1" cnt="1 0"/>
                </dgm:if>
                <dgm:if name="Name108" axis="ch" ptType="node" func="cnt" op="equ" val="4">
                  <dgm:presOf axis="ch desOrSelf" ptType="node node" st="2 1" cnt="1 0"/>
                </dgm:if>
                <dgm:if name="Name109" axis="ch" ptType="node" func="cnt" op="equ" val="5">
                  <dgm:presOf axis="ch desOrSelf" ptType="node node" st="3 1" cnt="1 0"/>
                </dgm:if>
                <dgm:if name="Name110" axis="ch" ptType="node" func="cnt" op="equ" val="6">
                  <dgm:presOf axis="ch desOrSelf" ptType="node node" st="4 1" cnt="1 0"/>
                </dgm:if>
                <dgm:else name="Name111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12"/>
    </dgm:choose>
    <dgm:choose name="Name113">
      <dgm:if name="Name114" axis="ch" ptType="node" func="cnt" op="gte" val="4">
        <dgm:layoutNode name="wedge4">
          <dgm:alg type="sp"/>
          <dgm:choose name="Name115">
            <dgm:if name="Name116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17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18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19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20">
            <dgm:if name="Name121" func="var" arg="dir" op="equ" val="norm">
              <dgm:presOf axis="ch desOrSelf" ptType="node node" st="4 1" cnt="1 0"/>
            </dgm:if>
            <dgm:else name="Name122">
              <dgm:choose name="Name123">
                <dgm:if name="Name124" axis="ch" ptType="node" func="cnt" op="equ" val="4">
                  <dgm:presOf axis="ch desOrSelf" ptType="node node" st="1 1" cnt="1 0"/>
                </dgm:if>
                <dgm:if name="Name125" axis="ch" ptType="node" func="cnt" op="equ" val="5">
                  <dgm:presOf axis="ch desOrSelf" ptType="node node" st="2 1" cnt="1 0"/>
                </dgm:if>
                <dgm:if name="Name126" axis="ch" ptType="node" func="cnt" op="equ" val="6">
                  <dgm:presOf axis="ch desOrSelf" ptType="node node" st="3 1" cnt="1 0"/>
                </dgm:if>
                <dgm:else name="Name127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28">
            <dgm:if name="Name129" func="var" arg="dir" op="equ" val="norm">
              <dgm:presOf axis="ch desOrSelf" ptType="node node" st="4 1" cnt="1 0"/>
            </dgm:if>
            <dgm:else name="Name130">
              <dgm:choose name="Name131">
                <dgm:if name="Name132" axis="ch" ptType="node" func="cnt" op="equ" val="4">
                  <dgm:presOf axis="ch desOrSelf" ptType="node node" st="1 1" cnt="1 0"/>
                </dgm:if>
                <dgm:if name="Name133" axis="ch" ptType="node" func="cnt" op="equ" val="5">
                  <dgm:presOf axis="ch desOrSelf" ptType="node node" st="2 1" cnt="1 0"/>
                </dgm:if>
                <dgm:if name="Name134" axis="ch" ptType="node" func="cnt" op="equ" val="6">
                  <dgm:presOf axis="ch desOrSelf" ptType="node node" st="3 1" cnt="1 0"/>
                </dgm:if>
                <dgm:else name="Name135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36"/>
    </dgm:choose>
    <dgm:choose name="Name137">
      <dgm:if name="Name138" axis="ch" ptType="node" func="cnt" op="gte" val="5">
        <dgm:layoutNode name="wedge5">
          <dgm:alg type="sp"/>
          <dgm:choose name="Name139">
            <dgm:if name="Name140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41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42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43">
            <dgm:if name="Name144" func="var" arg="dir" op="equ" val="norm">
              <dgm:presOf axis="ch desOrSelf" ptType="node node" st="5 1" cnt="1 0"/>
            </dgm:if>
            <dgm:else name="Name145">
              <dgm:choose name="Name146">
                <dgm:if name="Name147" axis="ch" ptType="node" func="cnt" op="equ" val="5">
                  <dgm:presOf axis="ch desOrSelf" ptType="node node" st="1 1" cnt="1 0"/>
                </dgm:if>
                <dgm:if name="Name148" axis="ch" ptType="node" func="cnt" op="equ" val="6">
                  <dgm:presOf axis="ch desOrSelf" ptType="node node" st="2 1" cnt="1 0"/>
                </dgm:if>
                <dgm:else name="Name149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0">
            <dgm:if name="Name151" func="var" arg="dir" op="equ" val="norm">
              <dgm:presOf axis="ch desOrSelf" ptType="node node" st="5 1" cnt="1 0"/>
            </dgm:if>
            <dgm:else name="Name152">
              <dgm:choose name="Name153">
                <dgm:if name="Name154" axis="ch" ptType="node" func="cnt" op="equ" val="5">
                  <dgm:presOf axis="ch desOrSelf" ptType="node node" st="1 1" cnt="1 0"/>
                </dgm:if>
                <dgm:if name="Name155" axis="ch" ptType="node" func="cnt" op="equ" val="6">
                  <dgm:presOf axis="ch desOrSelf" ptType="node node" st="2 1" cnt="1 0"/>
                </dgm:if>
                <dgm:else name="Name156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57"/>
    </dgm:choose>
    <dgm:choose name="Name158">
      <dgm:if name="Name159" axis="ch" ptType="node" func="cnt" op="gte" val="6">
        <dgm:layoutNode name="wedge6">
          <dgm:alg type="sp"/>
          <dgm:choose name="Name160">
            <dgm:if name="Name161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62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63">
            <dgm:if name="Name164" func="var" arg="dir" op="equ" val="norm">
              <dgm:presOf axis="ch desOrSelf" ptType="node node" st="6 1" cnt="1 0"/>
            </dgm:if>
            <dgm:else name="Name165">
              <dgm:choose name="Name166">
                <dgm:if name="Name167" axis="ch" ptType="node" func="cnt" op="equ" val="6">
                  <dgm:presOf axis="ch desOrSelf" ptType="node node" st="1 1" cnt="1 0"/>
                </dgm:if>
                <dgm:else name="Name168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9">
            <dgm:if name="Name170" func="var" arg="dir" op="equ" val="norm">
              <dgm:presOf axis="ch desOrSelf" ptType="node node" st="6 1" cnt="1 0"/>
            </dgm:if>
            <dgm:else name="Name171">
              <dgm:choose name="Name172">
                <dgm:if name="Name173" axis="ch" ptType="node" func="cnt" op="equ" val="6">
                  <dgm:presOf axis="ch desOrSelf" ptType="node node" st="1 1" cnt="1 0"/>
                </dgm:if>
                <dgm:else name="Name174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75"/>
    </dgm:choose>
    <dgm:choose name="Name176">
      <dgm:if name="Name177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78">
            <dgm:if name="Name179" func="var" arg="dir" op="equ" val="norm">
              <dgm:presOf axis="ch desOrSelf" ptType="node node" st="7 1" cnt="1 0"/>
            </dgm:if>
            <dgm:else name="Name180">
              <dgm:presOf axis="ch desOrSelf" ptType="node node" st="1 1" cnt="1 0"/>
            </dgm:else>
          </dgm:choose>
          <dgm:constrLst/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81">
            <dgm:if name="Name182" func="var" arg="dir" op="equ" val="norm">
              <dgm:presOf axis="ch desOrSelf" ptType="node node" st="7 1" cnt="1 0"/>
            </dgm:if>
            <dgm:else name="Name183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84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246120"/>
            <a:ext cx="2011680" cy="64008"/>
          </a:xfrm>
          <a:prstGeom prst="rect">
            <a:avLst/>
          </a:prstGeom>
          <a:solidFill>
            <a:srgbClr val="D9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4800" b="1">
                <a:solidFill>
                  <a:srgbClr val="FFFFFF"/>
                </a:solidFill>
              </a:defRPr>
            </a:pPr>
            <a:r>
              <a:t>Disaster Tweet Classification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C9D3E8"/>
                </a:solidFill>
              </a:defRPr>
            </a:pPr>
            <a:r>
              <a:t>An NLP project: from raw tweets to a deployed web classifier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52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C9D3E8"/>
                </a:solidFill>
              </a:defRPr>
            </a:pPr>
            <a:r>
              <a:rPr dirty="0" err="1"/>
              <a:t>Digicrome</a:t>
            </a:r>
            <a:r>
              <a:rPr dirty="0"/>
              <a:t> AI Course · Submission 15 Oct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FFFFF"/>
                </a:solidFill>
              </a:defRPr>
            </a:pPr>
            <a: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55F70"/>
                </a:solidFill>
              </a:defRPr>
            </a:pPr>
            <a:r>
              <a:t>Telling real emergencies from metaphors on social media</a:t>
            </a:r>
          </a:p>
        </p:txBody>
      </p:sp>
      <p:sp>
        <p:nvSpPr>
          <p:cNvPr id="7" name="Rectangle 6"/>
          <p:cNvSpPr/>
          <p:nvPr/>
        </p:nvSpPr>
        <p:spPr>
          <a:xfrm>
            <a:off x="6766560" y="1737360"/>
            <a:ext cx="4846320" cy="3566160"/>
          </a:xfrm>
          <a:prstGeom prst="rect">
            <a:avLst/>
          </a:prstGeom>
          <a:solidFill>
            <a:srgbClr val="F1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40880" y="1874519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D9534F"/>
                </a:solidFill>
              </a:defRPr>
            </a:pPr>
            <a:r>
              <a:t>Same word, different intent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2468880"/>
            <a:ext cx="4389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4244A"/>
                </a:solidFill>
              </a:defRPr>
            </a:pPr>
            <a:r>
              <a:t>Forest fire near La Ronge Sask. Canada  →  disaster</a:t>
            </a:r>
          </a:p>
          <a:p>
            <a:pPr>
              <a:spcAft>
                <a:spcPts val="800"/>
              </a:spcAft>
              <a:defRPr sz="1500" b="0">
                <a:solidFill>
                  <a:srgbClr val="14244A"/>
                </a:solidFill>
              </a:defRPr>
            </a:pPr>
            <a:r>
              <a:t>On top of the hill, I can see a fire in the woods  →  disaster</a:t>
            </a:r>
          </a:p>
          <a:p>
            <a:pPr>
              <a:spcAft>
                <a:spcPts val="800"/>
              </a:spcAft>
              <a:defRPr sz="1500" b="0">
                <a:solidFill>
                  <a:srgbClr val="14244A"/>
                </a:solidFill>
              </a:defRPr>
            </a:pPr>
            <a:r>
              <a:t>My car is so fast  →  not a disaster</a:t>
            </a:r>
          </a:p>
          <a:p>
            <a:pPr>
              <a:spcAft>
                <a:spcPts val="800"/>
              </a:spcAft>
              <a:defRPr sz="1500" b="0">
                <a:solidFill>
                  <a:srgbClr val="14244A"/>
                </a:solidFill>
              </a:defRPr>
            </a:pPr>
            <a:r>
              <a:t>I'm flooded with work  →  not a disaster</a:t>
            </a:r>
          </a:p>
        </p:txBody>
      </p:sp>
      <p:graphicFrame>
        <p:nvGraphicFramePr>
          <p:cNvPr id="11" name="TextBox 5">
            <a:extLst>
              <a:ext uri="{FF2B5EF4-FFF2-40B4-BE49-F238E27FC236}">
                <a16:creationId xmlns:a16="http://schemas.microsoft.com/office/drawing/2014/main" id="{4A5A50BE-7017-6865-13A1-1002D5083001}"/>
              </a:ext>
            </a:extLst>
          </p:cNvPr>
          <p:cNvGraphicFramePr/>
          <p:nvPr/>
        </p:nvGraphicFramePr>
        <p:xfrm>
          <a:off x="548640" y="1737360"/>
          <a:ext cx="5760720" cy="3657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FFFFF"/>
                </a:solidFill>
              </a:defRPr>
            </a:pPr>
            <a:r>
              <a:t>Workflow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55F70"/>
                </a:solidFill>
              </a:defRPr>
            </a:pPr>
            <a:r>
              <a:t>Four parts of the brief, one reproducible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2606040" cy="2926080"/>
          </a:xfrm>
          <a:prstGeom prst="rect">
            <a:avLst/>
          </a:prstGeom>
          <a:solidFill>
            <a:srgbClr val="F1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2103120"/>
            <a:ext cx="2606040" cy="73152"/>
          </a:xfrm>
          <a:prstGeom prst="rect">
            <a:avLst/>
          </a:prstGeom>
          <a:solidFill>
            <a:srgbClr val="D9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4000" b="1">
                <a:solidFill>
                  <a:srgbClr val="D9534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14244A"/>
                </a:solidFill>
              </a:defRPr>
            </a:pPr>
            <a:r>
              <a:t>Explore &amp; prepare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749039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55F70"/>
                </a:solidFill>
              </a:defRPr>
            </a:pPr>
            <a:r>
              <a:t>EDA, cleaning, tokenising, split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2103120"/>
            <a:ext cx="2606040" cy="2926080"/>
          </a:xfrm>
          <a:prstGeom prst="rect">
            <a:avLst/>
          </a:prstGeom>
          <a:solidFill>
            <a:srgbClr val="F1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383280" y="2103120"/>
            <a:ext cx="2606040" cy="73152"/>
          </a:xfrm>
          <a:prstGeom prst="rect">
            <a:avLst/>
          </a:prstGeom>
          <a:solidFill>
            <a:srgbClr val="D9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66160" y="22860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4000" b="1">
                <a:solidFill>
                  <a:srgbClr val="D9534F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30175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14244A"/>
                </a:solidFill>
              </a:defRPr>
            </a:pPr>
            <a:r>
              <a:t>Features &amp; models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3749039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55F70"/>
                </a:solidFill>
              </a:defRPr>
            </a:pPr>
            <a:r>
              <a:t>TF-IDF, extras, 5 models, grid search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2103120"/>
            <a:ext cx="2606040" cy="2926080"/>
          </a:xfrm>
          <a:prstGeom prst="rect">
            <a:avLst/>
          </a:prstGeom>
          <a:solidFill>
            <a:srgbClr val="F1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17920" y="2103120"/>
            <a:ext cx="2606040" cy="73152"/>
          </a:xfrm>
          <a:prstGeom prst="rect">
            <a:avLst/>
          </a:prstGeom>
          <a:solidFill>
            <a:srgbClr val="D9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0" y="22860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4000" b="1">
                <a:solidFill>
                  <a:srgbClr val="D9534F"/>
                </a:solidFill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0175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14244A"/>
                </a:solidFill>
              </a:defRPr>
            </a:pPr>
            <a:r>
              <a:t>Evaluate &amp; validate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749039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55F70"/>
                </a:solidFill>
              </a:defRPr>
            </a:pPr>
            <a:r>
              <a:t>Metrics, ROC/PR, overfit &amp; robustness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52560" y="2103120"/>
            <a:ext cx="2606040" cy="2926080"/>
          </a:xfrm>
          <a:prstGeom prst="rect">
            <a:avLst/>
          </a:prstGeom>
          <a:solidFill>
            <a:srgbClr val="F1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52560" y="2103120"/>
            <a:ext cx="2606040" cy="73152"/>
          </a:xfrm>
          <a:prstGeom prst="rect">
            <a:avLst/>
          </a:prstGeom>
          <a:solidFill>
            <a:srgbClr val="D9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35440" y="22860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4000" b="1">
                <a:solidFill>
                  <a:srgbClr val="D9534F"/>
                </a:solidFill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30175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14244A"/>
                </a:solidFill>
              </a:defRPr>
            </a:pPr>
            <a:r>
              <a:t>Deploy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3749039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55F70"/>
                </a:solidFill>
              </a:defRPr>
            </a:pPr>
            <a:r>
              <a:t>Pickle + Flask web UI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486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555F70"/>
                </a:solidFill>
              </a:defRPr>
            </a:pPr>
            <a:r>
              <a:t>Code: pipeline.py (analysis &amp; training) · app/ (Flask) · make_ppt.py (this deck)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FFFFF"/>
                </a:solidFill>
              </a:defRPr>
            </a:pPr>
            <a:r>
              <a:t>Data exploration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55F70"/>
                </a:solidFill>
              </a:defRPr>
            </a:pPr>
            <a:r>
              <a:t>tweets.csv: id, keyword, location, text, target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37360"/>
            <a:ext cx="2651760" cy="1371600"/>
          </a:xfrm>
          <a:prstGeom prst="rect">
            <a:avLst/>
          </a:prstGeom>
          <a:solidFill>
            <a:srgbClr val="F1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3400" b="1">
                <a:solidFill>
                  <a:srgbClr val="D9534F"/>
                </a:solidFill>
              </a:defRPr>
            </a:pPr>
            <a:r>
              <a:t>7,613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603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300" b="0">
                <a:solidFill>
                  <a:srgbClr val="555F70"/>
                </a:solidFill>
              </a:defRPr>
            </a:pPr>
            <a:r>
              <a:t>labelled tweets (brief says ~10k)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291840"/>
            <a:ext cx="2651760" cy="1371600"/>
          </a:xfrm>
          <a:prstGeom prst="rect">
            <a:avLst/>
          </a:prstGeom>
          <a:solidFill>
            <a:srgbClr val="F1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338328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3400" b="1">
                <a:solidFill>
                  <a:srgbClr val="D9534F"/>
                </a:solidFill>
              </a:defRPr>
            </a:pPr>
            <a:r>
              <a:t>43%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1148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300" b="0">
                <a:solidFill>
                  <a:srgbClr val="555F70"/>
                </a:solidFill>
              </a:defRPr>
            </a:pPr>
            <a:r>
              <a:t>disaster (target = 1)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846320"/>
            <a:ext cx="2651760" cy="1371600"/>
          </a:xfrm>
          <a:prstGeom prst="rect">
            <a:avLst/>
          </a:prstGeom>
          <a:solidFill>
            <a:srgbClr val="F1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4937759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3400" b="1">
                <a:solidFill>
                  <a:srgbClr val="D9534F"/>
                </a:solidFill>
              </a:defRPr>
            </a:pPr>
            <a:r>
              <a:t>110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300" b="0">
                <a:solidFill>
                  <a:srgbClr val="555F70"/>
                </a:solidFill>
              </a:defRPr>
            </a:pPr>
            <a:r>
              <a:t>duplicate texts; 18 with conflicting labels</a:t>
            </a:r>
          </a:p>
        </p:txBody>
      </p:sp>
      <p:pic>
        <p:nvPicPr>
          <p:cNvPr id="15" name="Picture 14" descr="class_d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645920"/>
            <a:ext cx="4457700" cy="35661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589520" y="1737360"/>
            <a:ext cx="4206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4244A"/>
                </a:solidFill>
              </a:defRPr>
            </a:pPr>
            <a:r>
              <a:t>•  Keyword missing in 61 rows, location in 2534 (34%), so location is dropped.</a:t>
            </a:r>
          </a:p>
          <a:p>
            <a:pPr>
              <a:spcAft>
                <a:spcPts val="800"/>
              </a:spcAft>
              <a:defRPr sz="1500" b="0">
                <a:solidFill>
                  <a:srgbClr val="14244A"/>
                </a:solidFill>
              </a:defRPr>
            </a:pPr>
            <a:r>
              <a:t>•  Mild imbalance (43/57), so F1 and PR curves are tracked, not just accuracy.</a:t>
            </a:r>
          </a:p>
          <a:p>
            <a:pPr>
              <a:spcAft>
                <a:spcPts val="800"/>
              </a:spcAft>
              <a:defRPr sz="1500" b="0">
                <a:solidFill>
                  <a:srgbClr val="14244A"/>
                </a:solidFill>
              </a:defRPr>
            </a:pPr>
            <a:r>
              <a:t>•  Exact duplicate texts removed (keep first) to prevent train/test leakage: 7,503 rows remain.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FFFFF"/>
                </a:solidFill>
              </a:defRPr>
            </a:pPr>
            <a:r>
              <a:t>Which words signal a disaster?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55F70"/>
                </a:solidFill>
              </a:defRPr>
            </a:pPr>
            <a:r>
              <a:t>Top non-stop-words per class after cleaning</a:t>
            </a:r>
          </a:p>
        </p:txBody>
      </p:sp>
      <p:pic>
        <p:nvPicPr>
          <p:cNvPr id="6" name="Picture 5" descr="top_wor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7498079" cy="33741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138160" y="1737360"/>
            <a:ext cx="374903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4244A"/>
                </a:solidFill>
              </a:defRPr>
            </a:pPr>
            <a:r>
              <a:t>•  Disaster: killed, california, suicide (bombers), police, fire, flood, disaster, news, storm.</a:t>
            </a:r>
          </a:p>
          <a:p>
            <a:pPr>
              <a:spcAft>
                <a:spcPts val="800"/>
              </a:spcAft>
              <a:defRPr sz="1500" b="0">
                <a:solidFill>
                  <a:srgbClr val="14244A"/>
                </a:solidFill>
              </a:defRPr>
            </a:pPr>
            <a:r>
              <a:t>•  Non-disaster: everyday chatter (like, love, new, just).</a:t>
            </a:r>
          </a:p>
          <a:p>
            <a:pPr>
              <a:spcAft>
                <a:spcPts val="800"/>
              </a:spcAft>
              <a:defRPr sz="1500" b="0">
                <a:solidFill>
                  <a:srgbClr val="14244A"/>
                </a:solidFill>
              </a:defRPr>
            </a:pPr>
            <a:r>
              <a:t>•  Many words (fire, burning, bomb) appear in both classes, which is why context features matter.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FFFFF"/>
                </a:solidFill>
              </a:defRPr>
            </a:pPr>
            <a:r>
              <a:t>Data preparation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4244A"/>
                </a:solidFill>
              </a:defRPr>
            </a:pPr>
            <a:r>
              <a:t>•  Lowercase; strip URLs, @mentions, '#', HTML entities, digits, punctuation.</a:t>
            </a:r>
          </a:p>
          <a:p>
            <a:pPr>
              <a:spcAft>
                <a:spcPts val="800"/>
              </a:spcAft>
              <a:defRPr sz="1800" b="0">
                <a:solidFill>
                  <a:srgbClr val="14244A"/>
                </a:solidFill>
              </a:defRPr>
            </a:pPr>
            <a:r>
              <a:t>•  Tokenise into words (len ≥ 2), used for frequency analysis and extra features.</a:t>
            </a:r>
          </a:p>
          <a:p>
            <a:pPr>
              <a:spcAft>
                <a:spcPts val="800"/>
              </a:spcAft>
              <a:defRPr sz="1800" b="0">
                <a:solidFill>
                  <a:srgbClr val="14244A"/>
                </a:solidFill>
              </a:defRPr>
            </a:pPr>
            <a:r>
              <a:t>•  Labels already numeric: 0 = non-disaster, 1 = disaster.</a:t>
            </a:r>
          </a:p>
          <a:p>
            <a:pPr>
              <a:spcAft>
                <a:spcPts val="800"/>
              </a:spcAft>
              <a:defRPr sz="1800" b="0">
                <a:solidFill>
                  <a:srgbClr val="14244A"/>
                </a:solidFill>
              </a:defRPr>
            </a:pPr>
            <a:r>
              <a:t>•  Stratified 80/20 split (random_state=42): 6,002 train / 1,501 test.</a:t>
            </a:r>
          </a:p>
          <a:p>
            <a:pPr>
              <a:spcAft>
                <a:spcPts val="800"/>
              </a:spcAft>
              <a:defRPr sz="1800" b="0">
                <a:solidFill>
                  <a:srgbClr val="14244A"/>
                </a:solidFill>
              </a:defRPr>
            </a:pPr>
            <a:r>
              <a:t>•  All vectorisers, scalers and SVD are fit on train only, so there is no leakage.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0" y="1554480"/>
            <a:ext cx="5029200" cy="3931920"/>
          </a:xfrm>
          <a:prstGeom prst="rect">
            <a:avLst/>
          </a:prstGeom>
          <a:solidFill>
            <a:srgbClr val="F1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766560" y="16459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D9534F"/>
                </a:solidFill>
              </a:defRPr>
            </a:pPr>
            <a:r>
              <a:t>Before → after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2103120"/>
            <a:ext cx="4663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4244A"/>
                </a:solidFill>
              </a:defRPr>
            </a:pPr>
            <a:r>
              <a:t>#RockyFire Update =&gt; California Hwy. 20 closed in both directions due to Lake County fire - #CAfire #wildfires</a:t>
            </a:r>
          </a:p>
          <a:p>
            <a:pPr>
              <a:spcAft>
                <a:spcPts val="800"/>
              </a:spcAft>
              <a:defRPr sz="1500" b="0">
                <a:solidFill>
                  <a:srgbClr val="14244A"/>
                </a:solidFill>
              </a:defRPr>
            </a:pPr>
            <a:r>
              <a:t>↓</a:t>
            </a:r>
          </a:p>
          <a:p>
            <a:pPr>
              <a:spcAft>
                <a:spcPts val="800"/>
              </a:spcAft>
              <a:defRPr sz="1500" b="0">
                <a:solidFill>
                  <a:srgbClr val="14244A"/>
                </a:solidFill>
              </a:defRPr>
            </a:pPr>
            <a:r>
              <a:t>rockyfire update california hwy closed in both directions due to lake county fire cafire wildfires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FFFFF"/>
                </a:solidFill>
              </a:defRPr>
            </a:pPr>
            <a:r>
              <a:t>Feature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55F70"/>
                </a:solidFill>
              </a:defRPr>
            </a:pPr>
            <a:r>
              <a:t>5-fold CV F1 of logistic regression on the training set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737360"/>
          <a:ext cx="64008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Feature set</a:t>
                      </a:r>
                    </a:p>
                  </a:txBody>
                  <a:tcPr>
                    <a:solidFill>
                      <a:srgbClr val="1424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CV F1</a:t>
                      </a:r>
                    </a:p>
                  </a:txBody>
                  <a:tcPr>
                    <a:solidFill>
                      <a:srgbClr val="1424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44A"/>
                          </a:solidFill>
                        </a:defRPr>
                      </a:pPr>
                      <a:r>
                        <a:t>Tweet-statistics only (length, #, @, URL, !, ?, caps, sentiment)</a:t>
                      </a:r>
                    </a:p>
                  </a:txBody>
                  <a:tcPr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44A"/>
                          </a:solidFill>
                        </a:defRPr>
                      </a:pPr>
                      <a:r>
                        <a:t>0.558</a:t>
                      </a:r>
                    </a:p>
                  </a:txBody>
                  <a:tcPr>
                    <a:solidFill>
                      <a:srgbClr val="F1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44A"/>
                          </a:solidFill>
                        </a:defRPr>
                      </a:pPr>
                      <a:r>
                        <a:t>LSA vectors (150-d SVD, semantic embedding stand-in)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44A"/>
                          </a:solidFill>
                        </a:defRPr>
                      </a:pPr>
                      <a:r>
                        <a:t>0.675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44A"/>
                          </a:solidFill>
                        </a:defRPr>
                      </a:pPr>
                      <a:r>
                        <a:t>TF-IDF words (1-2 grams) + keyword</a:t>
                      </a:r>
                    </a:p>
                  </a:txBody>
                  <a:tcPr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44A"/>
                          </a:solidFill>
                        </a:defRPr>
                      </a:pPr>
                      <a:r>
                        <a:t>0.741</a:t>
                      </a:r>
                    </a:p>
                  </a:txBody>
                  <a:tcPr>
                    <a:solidFill>
                      <a:srgbClr val="F1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44A"/>
                          </a:solidFill>
                        </a:defRPr>
                      </a:pPr>
                      <a:r>
                        <a:t>+ character 2-5 grams (slang, typos)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44A"/>
                          </a:solidFill>
                        </a:defRPr>
                      </a:pPr>
                      <a:r>
                        <a:t>0.757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44A"/>
                          </a:solidFill>
                        </a:defRPr>
                      </a:pPr>
                      <a:r>
                        <a:t>+ tweet statistics (chosen)</a:t>
                      </a:r>
                    </a:p>
                  </a:txBody>
                  <a:tcPr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244A"/>
                          </a:solidFill>
                        </a:defRPr>
                      </a:pPr>
                      <a:r>
                        <a:t>0.760</a:t>
                      </a:r>
                    </a:p>
                  </a:txBody>
                  <a:tcPr>
                    <a:solidFill>
                      <a:srgbClr val="F1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0" y="1737360"/>
            <a:ext cx="4389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14244A"/>
                </a:solidFill>
              </a:defRPr>
            </a:pPr>
            <a:r>
              <a:t>•  TF-IDF is the strongest single signal; char n-grams add robustness to slang and misspellings.</a:t>
            </a:r>
          </a:p>
          <a:p>
            <a:pPr>
              <a:spcAft>
                <a:spcPts val="800"/>
              </a:spcAft>
              <a:defRPr sz="1400" b="0">
                <a:solidFill>
                  <a:srgbClr val="14244A"/>
                </a:solidFill>
              </a:defRPr>
            </a:pPr>
            <a:r>
              <a:t>•  Tweet statistics help only slightly alone, but add a small gain on top.</a:t>
            </a:r>
          </a:p>
          <a:p>
            <a:pPr>
              <a:spcAft>
                <a:spcPts val="800"/>
              </a:spcAft>
              <a:defRPr sz="1400" b="0">
                <a:solidFill>
                  <a:srgbClr val="14244A"/>
                </a:solidFill>
              </a:defRPr>
            </a:pPr>
            <a:r>
              <a:t>•  Word2Vec/GloVe need extra downloads (no gensim installed), so LSA is the semantic-vector substitute here. Pretrained GloVe is the obvious next step.</a:t>
            </a:r>
          </a:p>
          <a:p>
            <a:pPr>
              <a:spcAft>
                <a:spcPts val="800"/>
              </a:spcAft>
              <a:defRPr sz="1400" b="0">
                <a:solidFill>
                  <a:srgbClr val="14244A"/>
                </a:solidFill>
              </a:defRPr>
            </a:pPr>
            <a:r>
              <a:t>•  Sentiment is a small lexicon score (positive minus negative words).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FFFFF"/>
                </a:solidFill>
              </a:defRPr>
            </a:pPr>
            <a:r>
              <a:t>Model selection and tuning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55F70"/>
                </a:solidFill>
              </a:defRPr>
            </a:pPr>
            <a:r>
              <a:t>Five candidates, 5-fold CV grid search optimising F1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737360"/>
          <a:ext cx="11064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424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Best params</a:t>
                      </a:r>
                    </a:p>
                  </a:txBody>
                  <a:tcPr>
                    <a:solidFill>
                      <a:srgbClr val="1424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CV F1</a:t>
                      </a:r>
                    </a:p>
                  </a:txBody>
                  <a:tcPr>
                    <a:solidFill>
                      <a:srgbClr val="1424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Train F1</a:t>
                      </a:r>
                    </a:p>
                  </a:txBody>
                  <a:tcPr>
                    <a:solidFill>
                      <a:srgbClr val="1424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44A"/>
                          </a:solidFill>
                        </a:defRPr>
                      </a:pPr>
                      <a:r>
                        <a:t>Logistic Regression</a:t>
                      </a:r>
                    </a:p>
                  </a:txBody>
                  <a:tcPr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44A"/>
                          </a:solidFill>
                        </a:defRPr>
                      </a:pPr>
                      <a:r>
                        <a:t>C=3</a:t>
                      </a:r>
                    </a:p>
                  </a:txBody>
                  <a:tcPr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44A"/>
                          </a:solidFill>
                        </a:defRPr>
                      </a:pPr>
                      <a:r>
                        <a:t>0.760</a:t>
                      </a:r>
                    </a:p>
                  </a:txBody>
                  <a:tcPr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44A"/>
                          </a:solidFill>
                        </a:defRPr>
                      </a:pPr>
                      <a:r>
                        <a:t>0.923</a:t>
                      </a:r>
                    </a:p>
                  </a:txBody>
                  <a:tcPr>
                    <a:solidFill>
                      <a:srgbClr val="F1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44A"/>
                          </a:solidFill>
                        </a:defRPr>
                      </a:pPr>
                      <a:r>
                        <a:t>Linear SVM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44A"/>
                          </a:solidFill>
                        </a:defRPr>
                      </a:pPr>
                      <a:r>
                        <a:t>C=0.3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44A"/>
                          </a:solidFill>
                        </a:defRPr>
                      </a:pPr>
                      <a:r>
                        <a:t>0.760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44A"/>
                          </a:solidFill>
                        </a:defRPr>
                      </a:pPr>
                      <a:r>
                        <a:t>0.927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44A"/>
                          </a:solidFill>
                        </a:defRPr>
                      </a:pPr>
                      <a:r>
                        <a:t>Naive Bayes</a:t>
                      </a:r>
                    </a:p>
                  </a:txBody>
                  <a:tcPr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44A"/>
                          </a:solidFill>
                        </a:defRPr>
                      </a:pPr>
                      <a:r>
                        <a:t>alpha=0.3</a:t>
                      </a:r>
                    </a:p>
                  </a:txBody>
                  <a:tcPr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44A"/>
                          </a:solidFill>
                        </a:defRPr>
                      </a:pPr>
                      <a:r>
                        <a:t>0.742</a:t>
                      </a:r>
                    </a:p>
                  </a:txBody>
                  <a:tcPr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44A"/>
                          </a:solidFill>
                        </a:defRPr>
                      </a:pPr>
                      <a:r>
                        <a:t>0.848</a:t>
                      </a:r>
                    </a:p>
                  </a:txBody>
                  <a:tcPr>
                    <a:solidFill>
                      <a:srgbClr val="F1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44A"/>
                          </a:solidFill>
                        </a:defRPr>
                      </a:pPr>
                      <a:r>
                        <a:t>Random Forest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44A"/>
                          </a:solidFill>
                        </a:defRPr>
                      </a:pPr>
                      <a:r>
                        <a:t>max_depth=None, n_estimators=400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44A"/>
                          </a:solidFill>
                        </a:defRPr>
                      </a:pPr>
                      <a:r>
                        <a:t>0.683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44A"/>
                          </a:solidFill>
                        </a:defRPr>
                      </a:pPr>
                      <a:r>
                        <a:t>0.996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44A"/>
                          </a:solidFill>
                        </a:defRPr>
                      </a:pPr>
                      <a:r>
                        <a:t>Neural Net (MLP on LSA)</a:t>
                      </a:r>
                    </a:p>
                  </a:txBody>
                  <a:tcPr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44A"/>
                          </a:solidFill>
                        </a:defRPr>
                      </a:pPr>
                      <a:r>
                        <a:t>alpha=0.0001, hidden_layer_sizes=(128, 64)</a:t>
                      </a:r>
                    </a:p>
                  </a:txBody>
                  <a:tcPr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44A"/>
                          </a:solidFill>
                        </a:defRPr>
                      </a:pPr>
                      <a:r>
                        <a:t>0.712</a:t>
                      </a:r>
                    </a:p>
                  </a:txBody>
                  <a:tcPr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44A"/>
                          </a:solidFill>
                        </a:defRPr>
                      </a:pPr>
                      <a:r>
                        <a:t>0.749</a:t>
                      </a:r>
                    </a:p>
                  </a:txBody>
                  <a:tcPr>
                    <a:solidFill>
                      <a:srgbClr val="F1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29768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4244A"/>
                </a:solidFill>
              </a:defRPr>
            </a:pPr>
            <a:r>
              <a:t>•  Linear models on sparse TF-IDF lead (CV F1 ≈ 0.76); Random Forest and the MLP on dense LSA are weaker on short, sparse text.</a:t>
            </a:r>
          </a:p>
          <a:p>
            <a:pPr>
              <a:spcAft>
                <a:spcPts val="800"/>
              </a:spcAft>
              <a:defRPr sz="1600" b="0">
                <a:solidFill>
                  <a:srgbClr val="14244A"/>
                </a:solidFill>
              </a:defRPr>
            </a:pPr>
            <a:r>
              <a:t>•  Train F1 far above CV F1 for LR, SVM and RF shows overfitting, addressed in validation.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FFFFF"/>
                </a:solidFill>
              </a:defRPr>
            </a:pPr>
            <a:r>
              <a:t>Model evaluation on the held-out test 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55F70"/>
                </a:solidFill>
              </a:defRPr>
            </a:pPr>
            <a:r>
              <a:t>1,501 unseen tweets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737360"/>
          <a:ext cx="67665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424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1424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1424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1424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F1</a:t>
                      </a:r>
                    </a:p>
                  </a:txBody>
                  <a:tcPr>
                    <a:solidFill>
                      <a:srgbClr val="1424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ROC-AUC</a:t>
                      </a:r>
                    </a:p>
                  </a:txBody>
                  <a:tcPr>
                    <a:solidFill>
                      <a:srgbClr val="1424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244A"/>
                          </a:solidFill>
                        </a:defRPr>
                      </a:pPr>
                      <a:r>
                        <a:t>Logistic Regression</a:t>
                      </a:r>
                    </a:p>
                  </a:txBody>
                  <a:tcPr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244A"/>
                          </a:solidFill>
                        </a:defRPr>
                      </a:pPr>
                      <a:r>
                        <a:t>0.818</a:t>
                      </a:r>
                    </a:p>
                  </a:txBody>
                  <a:tcPr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244A"/>
                          </a:solidFill>
                        </a:defRPr>
                      </a:pPr>
                      <a:r>
                        <a:t>0.819</a:t>
                      </a:r>
                    </a:p>
                  </a:txBody>
                  <a:tcPr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244A"/>
                          </a:solidFill>
                        </a:defRPr>
                      </a:pPr>
                      <a:r>
                        <a:t>0.736</a:t>
                      </a:r>
                    </a:p>
                  </a:txBody>
                  <a:tcPr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244A"/>
                          </a:solidFill>
                        </a:defRPr>
                      </a:pPr>
                      <a:r>
                        <a:t>0.775</a:t>
                      </a:r>
                    </a:p>
                  </a:txBody>
                  <a:tcPr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244A"/>
                          </a:solidFill>
                        </a:defRPr>
                      </a:pPr>
                      <a:r>
                        <a:t>0.868</a:t>
                      </a:r>
                    </a:p>
                  </a:txBody>
                  <a:tcPr>
                    <a:solidFill>
                      <a:srgbClr val="F1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244A"/>
                          </a:solidFill>
                        </a:defRPr>
                      </a:pPr>
                      <a:r>
                        <a:t>Linear SVM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244A"/>
                          </a:solidFill>
                        </a:defRPr>
                      </a:pPr>
                      <a:r>
                        <a:t>0.811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244A"/>
                          </a:solidFill>
                        </a:defRPr>
                      </a:pPr>
                      <a:r>
                        <a:t>0.810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244A"/>
                          </a:solidFill>
                        </a:defRPr>
                      </a:pPr>
                      <a:r>
                        <a:t>0.728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244A"/>
                          </a:solidFill>
                        </a:defRPr>
                      </a:pPr>
                      <a:r>
                        <a:t>0.767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244A"/>
                          </a:solidFill>
                        </a:defRPr>
                      </a:pPr>
                      <a:r>
                        <a:t>0.866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244A"/>
                          </a:solidFill>
                        </a:defRPr>
                      </a:pPr>
                      <a:r>
                        <a:t>Naive Bayes</a:t>
                      </a:r>
                    </a:p>
                  </a:txBody>
                  <a:tcPr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244A"/>
                          </a:solidFill>
                        </a:defRPr>
                      </a:pPr>
                      <a:r>
                        <a:t>0.819</a:t>
                      </a:r>
                    </a:p>
                  </a:txBody>
                  <a:tcPr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244A"/>
                          </a:solidFill>
                        </a:defRPr>
                      </a:pPr>
                      <a:r>
                        <a:t>0.849</a:t>
                      </a:r>
                    </a:p>
                  </a:txBody>
                  <a:tcPr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244A"/>
                          </a:solidFill>
                        </a:defRPr>
                      </a:pPr>
                      <a:r>
                        <a:t>0.702</a:t>
                      </a:r>
                    </a:p>
                  </a:txBody>
                  <a:tcPr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244A"/>
                          </a:solidFill>
                        </a:defRPr>
                      </a:pPr>
                      <a:r>
                        <a:t>0.768</a:t>
                      </a:r>
                    </a:p>
                  </a:txBody>
                  <a:tcPr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244A"/>
                          </a:solidFill>
                        </a:defRPr>
                      </a:pPr>
                      <a:r>
                        <a:t>0.858</a:t>
                      </a:r>
                    </a:p>
                  </a:txBody>
                  <a:tcPr>
                    <a:solidFill>
                      <a:srgbClr val="F1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244A"/>
                          </a:solidFill>
                        </a:defRPr>
                      </a:pPr>
                      <a:r>
                        <a:t>Random Forest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244A"/>
                          </a:solidFill>
                        </a:defRPr>
                      </a:pPr>
                      <a:r>
                        <a:t>0.799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244A"/>
                          </a:solidFill>
                        </a:defRPr>
                      </a:pPr>
                      <a:r>
                        <a:t>0.876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244A"/>
                          </a:solidFill>
                        </a:defRPr>
                      </a:pPr>
                      <a:r>
                        <a:t>0.616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244A"/>
                          </a:solidFill>
                        </a:defRPr>
                      </a:pPr>
                      <a:r>
                        <a:t>0.723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244A"/>
                          </a:solidFill>
                        </a:defRPr>
                      </a:pPr>
                      <a:r>
                        <a:t>0.853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244A"/>
                          </a:solidFill>
                        </a:defRPr>
                      </a:pPr>
                      <a:r>
                        <a:t>Neural Net (MLP on LSA)</a:t>
                      </a:r>
                    </a:p>
                  </a:txBody>
                  <a:tcPr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244A"/>
                          </a:solidFill>
                        </a:defRPr>
                      </a:pPr>
                      <a:r>
                        <a:t>0.771</a:t>
                      </a:r>
                    </a:p>
                  </a:txBody>
                  <a:tcPr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244A"/>
                          </a:solidFill>
                        </a:defRPr>
                      </a:pPr>
                      <a:r>
                        <a:t>0.749</a:t>
                      </a:r>
                    </a:p>
                  </a:txBody>
                  <a:tcPr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244A"/>
                          </a:solidFill>
                        </a:defRPr>
                      </a:pPr>
                      <a:r>
                        <a:t>0.695</a:t>
                      </a:r>
                    </a:p>
                  </a:txBody>
                  <a:tcPr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244A"/>
                          </a:solidFill>
                        </a:defRPr>
                      </a:pPr>
                      <a:r>
                        <a:t>0.721</a:t>
                      </a:r>
                    </a:p>
                  </a:txBody>
                  <a:tcPr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244A"/>
                          </a:solidFill>
                        </a:defRPr>
                      </a:pPr>
                      <a:r>
                        <a:t>0.834</a:t>
                      </a:r>
                    </a:p>
                  </a:txBody>
                  <a:tcPr>
                    <a:solidFill>
                      <a:srgbClr val="F1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7" name="Picture 6" descr="model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645920"/>
            <a:ext cx="4389120" cy="1950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4297680"/>
            <a:ext cx="6766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4244A"/>
                </a:solidFill>
              </a:defRPr>
            </a:pPr>
            <a:r>
              <a:t>•  Winner: Logistic Regression (F1 0.775, accuracy 0.818).</a:t>
            </a:r>
          </a:p>
          <a:p>
            <a:pPr>
              <a:spcAft>
                <a:spcPts val="800"/>
              </a:spcAft>
              <a:defRPr sz="1500" b="0">
                <a:solidFill>
                  <a:srgbClr val="14244A"/>
                </a:solidFill>
              </a:defRPr>
            </a:pPr>
            <a:r>
              <a:t>•  Random Forest has the highest precision (0.876) but misses 38% of disasters; choose by cost of false alarms vs misses.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FFFFF"/>
                </a:solidFill>
              </a:defRPr>
            </a:pPr>
            <a:r>
              <a:t>ROC, precision-recall and confusion matrices</a:t>
            </a:r>
          </a:p>
        </p:txBody>
      </p:sp>
      <p:pic>
        <p:nvPicPr>
          <p:cNvPr id="5" name="Picture 4" descr="roc_p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7498079" cy="3067396"/>
          </a:xfrm>
          <a:prstGeom prst="rect">
            <a:avLst/>
          </a:prstGeom>
        </p:spPr>
      </p:pic>
      <p:pic>
        <p:nvPicPr>
          <p:cNvPr id="6" name="Picture 5" descr="confusion_b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280160"/>
            <a:ext cx="3657600" cy="2926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138160" y="4114800"/>
            <a:ext cx="3749039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14244A"/>
                </a:solidFill>
              </a:defRPr>
            </a:pPr>
            <a:r>
              <a:t>Best model: 471 true alerts, 104 false alarms, 169 missed disasters, 757 correct rejections.</a:t>
            </a:r>
          </a:p>
        </p:txBody>
      </p:sp>
      <p:pic>
        <p:nvPicPr>
          <p:cNvPr id="8" name="Picture 7" descr="confusion_a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846320"/>
            <a:ext cx="7498079" cy="158782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FFFFF"/>
                </a:solidFill>
              </a:defRPr>
            </a:pPr>
            <a:r>
              <a:t>Model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55F70"/>
                </a:solidFill>
              </a:defRPr>
            </a:pPr>
            <a:r>
              <a:t>Generalisation, over/underfitting and robustness</a:t>
            </a:r>
          </a:p>
        </p:txBody>
      </p:sp>
      <p:pic>
        <p:nvPicPr>
          <p:cNvPr id="6" name="Picture 5" descr="learning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4400550" cy="3200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21208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555F70"/>
                </a:solidFill>
              </a:defRPr>
            </a:pPr>
            <a:r>
              <a:t>Caveat: labels are noisy (some errors are arguably mislabelled), which caps achievable accuracy near the low 80s.</a:t>
            </a:r>
          </a:p>
        </p:txBody>
      </p:sp>
      <p:graphicFrame>
        <p:nvGraphicFramePr>
          <p:cNvPr id="10" name="TextBox 6">
            <a:extLst>
              <a:ext uri="{FF2B5EF4-FFF2-40B4-BE49-F238E27FC236}">
                <a16:creationId xmlns:a16="http://schemas.microsoft.com/office/drawing/2014/main" id="{570E7823-7419-375A-35E2-256EE849F78B}"/>
              </a:ext>
            </a:extLst>
          </p:cNvPr>
          <p:cNvGraphicFramePr/>
          <p:nvPr/>
        </p:nvGraphicFramePr>
        <p:xfrm>
          <a:off x="5852160" y="1463040"/>
          <a:ext cx="594360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FFFFF"/>
                </a:solidFill>
              </a:defRPr>
            </a:pPr>
            <a:r>
              <a:t>What the model learned, and where it fails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D9534F"/>
                </a:solidFill>
              </a:defRPr>
            </a:pPr>
            <a:r>
              <a:t>Strongest disaster words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3657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14244A"/>
                </a:solidFill>
              </a:defRPr>
            </a:pPr>
            <a:r>
              <a:t>fires  (+2.5)</a:t>
            </a:r>
          </a:p>
          <a:p>
            <a:pPr>
              <a:spcAft>
                <a:spcPts val="800"/>
              </a:spcAft>
              <a:defRPr sz="1400" b="0">
                <a:solidFill>
                  <a:srgbClr val="14244A"/>
                </a:solidFill>
              </a:defRPr>
            </a:pPr>
            <a:r>
              <a:t>earthquake  (+2.3)</a:t>
            </a:r>
          </a:p>
          <a:p>
            <a:pPr>
              <a:spcAft>
                <a:spcPts val="800"/>
              </a:spcAft>
              <a:defRPr sz="1400" b="0">
                <a:solidFill>
                  <a:srgbClr val="14244A"/>
                </a:solidFill>
              </a:defRPr>
            </a:pPr>
            <a:r>
              <a:t>hiroshima  (+2.3)</a:t>
            </a:r>
          </a:p>
          <a:p>
            <a:pPr>
              <a:spcAft>
                <a:spcPts val="800"/>
              </a:spcAft>
              <a:defRPr sz="1400" b="0">
                <a:solidFill>
                  <a:srgbClr val="14244A"/>
                </a:solidFill>
              </a:defRPr>
            </a:pPr>
            <a:r>
              <a:t>distance  (+2.3)</a:t>
            </a:r>
          </a:p>
          <a:p>
            <a:pPr>
              <a:spcAft>
                <a:spcPts val="800"/>
              </a:spcAft>
              <a:defRPr sz="1400" b="0">
                <a:solidFill>
                  <a:srgbClr val="14244A"/>
                </a:solidFill>
              </a:defRPr>
            </a:pPr>
            <a:r>
              <a:t>bombing  (+2.1)</a:t>
            </a:r>
          </a:p>
          <a:p>
            <a:pPr>
              <a:spcAft>
                <a:spcPts val="800"/>
              </a:spcAft>
              <a:defRPr sz="1400" b="0">
                <a:solidFill>
                  <a:srgbClr val="14244A"/>
                </a:solidFill>
              </a:defRPr>
            </a:pPr>
            <a:r>
              <a:t>japan  (+2.1)</a:t>
            </a:r>
          </a:p>
          <a:p>
            <a:pPr>
              <a:spcAft>
                <a:spcPts val="800"/>
              </a:spcAft>
              <a:defRPr sz="1400" b="0">
                <a:solidFill>
                  <a:srgbClr val="14244A"/>
                </a:solidFill>
              </a:defRPr>
            </a:pPr>
            <a:r>
              <a:t>shot  (+2.1)</a:t>
            </a:r>
          </a:p>
          <a:p>
            <a:pPr>
              <a:spcAft>
                <a:spcPts val="800"/>
              </a:spcAft>
              <a:defRPr sz="1400" b="0">
                <a:solidFill>
                  <a:srgbClr val="14244A"/>
                </a:solidFill>
              </a:defRPr>
            </a:pPr>
            <a:r>
              <a:t>near  (+2.0)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D9534F"/>
                </a:solidFill>
              </a:defRPr>
            </a:pPr>
            <a:r>
              <a:t>Strongest non-disaster words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1828800"/>
            <a:ext cx="3657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14244A"/>
                </a:solidFill>
              </a:defRPr>
            </a:pPr>
            <a:r>
              <a:t>head  (-2.1)</a:t>
            </a:r>
          </a:p>
          <a:p>
            <a:pPr>
              <a:spcAft>
                <a:spcPts val="800"/>
              </a:spcAft>
              <a:defRPr sz="1400" b="0">
                <a:solidFill>
                  <a:srgbClr val="14244A"/>
                </a:solidFill>
              </a:defRPr>
            </a:pPr>
            <a:r>
              <a:t>new  (-2.0)</a:t>
            </a:r>
          </a:p>
          <a:p>
            <a:pPr>
              <a:spcAft>
                <a:spcPts val="800"/>
              </a:spcAft>
              <a:defRPr sz="1400" b="0">
                <a:solidFill>
                  <a:srgbClr val="14244A"/>
                </a:solidFill>
              </a:defRPr>
            </a:pPr>
            <a:r>
              <a:t>demolish  (-1.8)</a:t>
            </a:r>
          </a:p>
          <a:p>
            <a:pPr>
              <a:spcAft>
                <a:spcPts val="800"/>
              </a:spcAft>
              <a:defRPr sz="1400" b="0">
                <a:solidFill>
                  <a:srgbClr val="14244A"/>
                </a:solidFill>
              </a:defRPr>
            </a:pPr>
            <a:r>
              <a:t>jobs  (-1.7)</a:t>
            </a:r>
          </a:p>
          <a:p>
            <a:pPr>
              <a:spcAft>
                <a:spcPts val="800"/>
              </a:spcAft>
              <a:defRPr sz="1400" b="0">
                <a:solidFill>
                  <a:srgbClr val="14244A"/>
                </a:solidFill>
              </a:defRPr>
            </a:pPr>
            <a:r>
              <a:t>art  (-1.6)</a:t>
            </a:r>
          </a:p>
          <a:p>
            <a:pPr>
              <a:spcAft>
                <a:spcPts val="800"/>
              </a:spcAft>
              <a:defRPr sz="1400" b="0">
                <a:solidFill>
                  <a:srgbClr val="14244A"/>
                </a:solidFill>
              </a:defRPr>
            </a:pPr>
            <a:r>
              <a:t>finally  (-1.6)</a:t>
            </a:r>
          </a:p>
          <a:p>
            <a:pPr>
              <a:spcAft>
                <a:spcPts val="800"/>
              </a:spcAft>
              <a:defRPr sz="1400" b="0">
                <a:solidFill>
                  <a:srgbClr val="14244A"/>
                </a:solidFill>
              </a:defRPr>
            </a:pPr>
            <a:r>
              <a:t>wants  (-1.6)</a:t>
            </a:r>
          </a:p>
          <a:p>
            <a:pPr>
              <a:spcAft>
                <a:spcPts val="800"/>
              </a:spcAft>
              <a:defRPr sz="1400" b="0">
                <a:solidFill>
                  <a:srgbClr val="14244A"/>
                </a:solidFill>
              </a:defRPr>
            </a:pPr>
            <a:r>
              <a:t>cake  (-1.6)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137160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D9534F"/>
                </a:solidFill>
              </a:defRPr>
            </a:pPr>
            <a:r>
              <a:t>Metaphor probes (P disaster)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182880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14244A"/>
                </a:solidFill>
              </a:defRPr>
            </a:pPr>
            <a:r>
              <a:t>Forest fire near my house, evacuation ordered  →  0.99</a:t>
            </a:r>
          </a:p>
          <a:p>
            <a:pPr>
              <a:spcAft>
                <a:spcPts val="800"/>
              </a:spcAft>
              <a:defRPr sz="1200" b="0">
                <a:solidFill>
                  <a:srgbClr val="14244A"/>
                </a:solidFill>
              </a:defRPr>
            </a:pPr>
            <a:r>
              <a:t>Your new song is fire lol  →  0.01</a:t>
            </a:r>
          </a:p>
          <a:p>
            <a:pPr>
              <a:spcAft>
                <a:spcPts val="800"/>
              </a:spcAft>
              <a:defRPr sz="1200" b="0">
                <a:solidFill>
                  <a:srgbClr val="14244A"/>
                </a:solidFill>
              </a:defRPr>
            </a:pPr>
            <a:r>
              <a:t>Earthquake of magnitude 6.1 hits the coast, buildings collapsed  →  0.98</a:t>
            </a:r>
          </a:p>
          <a:p>
            <a:pPr>
              <a:spcAft>
                <a:spcPts val="800"/>
              </a:spcAft>
              <a:defRPr sz="1200" b="0">
                <a:solidFill>
                  <a:srgbClr val="14244A"/>
                </a:solidFill>
              </a:defRPr>
            </a:pPr>
            <a:r>
              <a:t>I'm flooded with work this week  →  0.27</a:t>
            </a:r>
          </a:p>
          <a:p>
            <a:pPr>
              <a:spcAft>
                <a:spcPts val="800"/>
              </a:spcAft>
              <a:defRPr sz="1200" b="0">
                <a:solidFill>
                  <a:srgbClr val="14244A"/>
                </a:solidFill>
              </a:defRPr>
            </a:pPr>
            <a:r>
              <a:t>Massive flood waters rising, people trapped on rooftops  →  0.89</a:t>
            </a:r>
          </a:p>
          <a:p>
            <a:pPr>
              <a:spcAft>
                <a:spcPts val="800"/>
              </a:spcAft>
              <a:defRPr sz="1200" b="0">
                <a:solidFill>
                  <a:srgbClr val="14244A"/>
                </a:solidFill>
              </a:defRPr>
            </a:pPr>
            <a:r>
              <a:t>That concert was a total bomb haha  →  0.69</a:t>
            </a:r>
          </a:p>
          <a:p>
            <a:pPr>
              <a:spcAft>
                <a:spcPts val="800"/>
              </a:spcAft>
              <a:defRPr sz="1200" b="0">
                <a:solidFill>
                  <a:srgbClr val="14244A"/>
                </a:solidFill>
              </a:defRPr>
            </a:pPr>
            <a:r>
              <a:t>Wildfire smoke covers the city, residents told to evacuate  →  0.97</a:t>
            </a:r>
          </a:p>
          <a:p>
            <a:pPr>
              <a:spcAft>
                <a:spcPts val="800"/>
              </a:spcAft>
              <a:defRPr sz="1200" b="0">
                <a:solidFill>
                  <a:srgbClr val="14244A"/>
                </a:solidFill>
              </a:defRPr>
            </a:pPr>
            <a:r>
              <a:t>Just ate a burning hot curry, my mouth is on fire  →  0.72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754880"/>
            <a:ext cx="7132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14244A"/>
                </a:solidFill>
              </a:defRPr>
            </a:pPr>
            <a:r>
              <a:t>•  Errors cluster in political/war talk, sports-riot comments, and promotional spam that reuses disaster vocabulary.</a:t>
            </a:r>
          </a:p>
          <a:p>
            <a:pPr>
              <a:spcAft>
                <a:spcPts val="800"/>
              </a:spcAft>
              <a:defRPr sz="1400" b="0">
                <a:solidFill>
                  <a:srgbClr val="14244A"/>
                </a:solidFill>
              </a:defRPr>
            </a:pPr>
            <a:r>
              <a:t>•  Figurative uses ("on fire", "bomb") are still sometimes over-scored; contextual embeddings (BERT) are the planned upgrade.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FFFFF"/>
                </a:solidFill>
              </a:defRPr>
            </a:pPr>
            <a:r>
              <a:t>Deployment: model + Flask web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55F70"/>
                </a:solidFill>
              </a:defRPr>
            </a:pPr>
            <a:r>
              <a:t>Part 4 of the 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5852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4244A"/>
                </a:solidFill>
              </a:defRPr>
            </a:pPr>
            <a:r>
              <a:t>•  Final model: one scikit-learn Pipeline (clean → word+char TF-IDF → logistic regression, C=3), pickled with joblib as app/model.pkl. It takes raw text only, so it skips the extra tweet statistics (test F1 0.767 vs 0.775 with them).</a:t>
            </a:r>
          </a:p>
          <a:p>
            <a:pPr>
              <a:spcAft>
                <a:spcPts val="800"/>
              </a:spcAft>
              <a:defRPr sz="1500" b="0">
                <a:solidFill>
                  <a:srgbClr val="14244A"/>
                </a:solidFill>
              </a:defRPr>
            </a:pPr>
            <a:r>
              <a:t>•  Flask backend: POST /predict takes JSON text and returns label and probability; GET / serves the UI.</a:t>
            </a:r>
          </a:p>
          <a:p>
            <a:pPr>
              <a:spcAft>
                <a:spcPts val="800"/>
              </a:spcAft>
              <a:defRPr sz="1500" b="0">
                <a:solidFill>
                  <a:srgbClr val="14244A"/>
                </a:solidFill>
              </a:defRPr>
            </a:pPr>
            <a:r>
              <a:t>•  UI: text box, Classify button, colour-coded verdict with probability bar, one-click examples, empty-input error.</a:t>
            </a:r>
          </a:p>
          <a:p>
            <a:pPr>
              <a:spcAft>
                <a:spcPts val="800"/>
              </a:spcAft>
              <a:defRPr sz="1500" b="0">
                <a:solidFill>
                  <a:srgbClr val="14244A"/>
                </a:solidFill>
              </a:defRPr>
            </a:pPr>
            <a:r>
              <a:t>•  Run locally:  pip install -r app/requirements.txt, then python app/app.py.</a:t>
            </a:r>
          </a:p>
          <a:p>
            <a:pPr>
              <a:spcAft>
                <a:spcPts val="800"/>
              </a:spcAft>
              <a:defRPr sz="1500" b="0">
                <a:solidFill>
                  <a:srgbClr val="14244A"/>
                </a:solidFill>
              </a:defRPr>
            </a:pPr>
            <a:r>
              <a:t>•  Cloud: gunicorn app:app on Heroku, Render or AWS Elastic Beanstalk (Procfile / requirements provided). Not deployed to a live host from here.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766560" y="1737360"/>
            <a:ext cx="4846320" cy="3566160"/>
          </a:xfrm>
          <a:prstGeom prst="rect">
            <a:avLst/>
          </a:prstGeom>
          <a:solidFill>
            <a:srgbClr val="F1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40880" y="18288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D9534F"/>
                </a:solidFill>
              </a:defRPr>
            </a:pPr>
            <a:r>
              <a:t>Web 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2377440"/>
            <a:ext cx="4389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4244A"/>
                </a:solidFill>
              </a:defRPr>
            </a:pPr>
            <a:r>
              <a:t>[ Paste a tweet here…            ]</a:t>
            </a:r>
          </a:p>
          <a:p>
            <a:pPr>
              <a:spcAft>
                <a:spcPts val="800"/>
              </a:spcAft>
              <a:defRPr sz="1500" b="0">
                <a:solidFill>
                  <a:srgbClr val="14244A"/>
                </a:solidFill>
              </a:defRPr>
            </a:pPr>
            <a:r>
              <a:t>[ Classify ]</a:t>
            </a:r>
          </a:p>
          <a:p>
            <a:pPr>
              <a:spcAft>
                <a:spcPts val="800"/>
              </a:spcAft>
              <a:defRPr sz="1500" b="0">
                <a:solidFill>
                  <a:srgbClr val="14244A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500" b="0">
                <a:solidFill>
                  <a:srgbClr val="14244A"/>
                </a:solidFill>
              </a:defRPr>
            </a:pPr>
            <a:r>
              <a:t>Real disaster, probability 98.8%</a:t>
            </a:r>
          </a:p>
          <a:p>
            <a:pPr>
              <a:spcAft>
                <a:spcPts val="800"/>
              </a:spcAft>
              <a:defRPr sz="1500" b="0">
                <a:solidFill>
                  <a:srgbClr val="14244A"/>
                </a:solidFill>
              </a:defRPr>
            </a:pPr>
            <a:r>
              <a:t>████████████████░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457200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55F70"/>
                </a:solidFill>
              </a:defRPr>
            </a:pPr>
            <a:r>
              <a:t>Tested via Flask test client: / → 200, valid text → 98.8%, empty → 400.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FFFFF"/>
                </a:solidFill>
              </a:defRPr>
            </a:pPr>
            <a:r>
              <a:t>Scalability, limits and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D9534F"/>
                </a:solidFill>
              </a:defRPr>
            </a:pPr>
            <a:r>
              <a:t>Scalability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4244A"/>
                </a:solidFill>
              </a:defRPr>
            </a:pPr>
            <a:r>
              <a:t>•  Inference is a sparse linear dot product: thousands of tweets/sec per core.</a:t>
            </a:r>
          </a:p>
          <a:p>
            <a:pPr>
              <a:spcAft>
                <a:spcPts val="800"/>
              </a:spcAft>
              <a:defRPr sz="1500" b="0">
                <a:solidFill>
                  <a:srgbClr val="14244A"/>
                </a:solidFill>
              </a:defRPr>
            </a:pPr>
            <a:r>
              <a:t>•  Stateless app: scale horizontally behind gunicorn workers.</a:t>
            </a:r>
          </a:p>
          <a:p>
            <a:pPr>
              <a:spcAft>
                <a:spcPts val="800"/>
              </a:spcAft>
              <a:defRPr sz="1500" b="0">
                <a:solidFill>
                  <a:srgbClr val="14244A"/>
                </a:solidFill>
              </a:defRPr>
            </a:pPr>
            <a:r>
              <a:t>•  Batch endpoint and streaming ingestion are straightforward additions.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463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D9534F"/>
                </a:solidFill>
              </a:defRPr>
            </a:pPr>
            <a:r>
              <a:t>Next 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92024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4244A"/>
                </a:solidFill>
              </a:defRPr>
            </a:pPr>
            <a:r>
              <a:t>•  Fine-tune a transformer (DistilBERT) to resolve metaphors.</a:t>
            </a:r>
          </a:p>
          <a:p>
            <a:pPr>
              <a:spcAft>
                <a:spcPts val="800"/>
              </a:spcAft>
              <a:defRPr sz="1500" b="0">
                <a:solidFill>
                  <a:srgbClr val="14244A"/>
                </a:solidFill>
              </a:defRPr>
            </a:pPr>
            <a:r>
              <a:t>•  Use pretrained GloVe/Word2Vec features.</a:t>
            </a:r>
          </a:p>
          <a:p>
            <a:pPr>
              <a:spcAft>
                <a:spcPts val="800"/>
              </a:spcAft>
              <a:defRPr sz="1500" b="0">
                <a:solidFill>
                  <a:srgbClr val="14244A"/>
                </a:solidFill>
              </a:defRPr>
            </a:pPr>
            <a:r>
              <a:t>•  Tune the decision threshold for the agency's false-alarm tolerance.</a:t>
            </a:r>
          </a:p>
          <a:p>
            <a:pPr>
              <a:spcAft>
                <a:spcPts val="800"/>
              </a:spcAft>
              <a:defRPr sz="1500" b="0">
                <a:solidFill>
                  <a:srgbClr val="14244A"/>
                </a:solidFill>
              </a:defRPr>
            </a:pPr>
            <a:r>
              <a:t>•  Add location/time and retweet-spike signals; monitor drift.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029200"/>
            <a:ext cx="11064240" cy="1188720"/>
          </a:xfrm>
          <a:prstGeom prst="rect">
            <a:avLst/>
          </a:prstGeom>
          <a:solidFill>
            <a:srgbClr val="14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516636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FFFFFF"/>
                </a:solidFill>
              </a:defRPr>
            </a:pPr>
            <a:r>
              <a:t>Result: an end-to-end classifier with 81% accuracy, 80% precision and F1 0.77 on unseen tweets (deployed model), deployed behind a working web UI.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1556</Words>
  <Application>Microsoft Office PowerPoint</Application>
  <PresentationFormat>Widescreen</PresentationFormat>
  <Paragraphs>204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Shelly Parihar</cp:lastModifiedBy>
  <cp:revision>2</cp:revision>
  <dcterms:created xsi:type="dcterms:W3CDTF">2013-01-27T09:14:16Z</dcterms:created>
  <dcterms:modified xsi:type="dcterms:W3CDTF">2026-10-14T07:32:39Z</dcterms:modified>
  <cp:category/>
</cp:coreProperties>
</file>